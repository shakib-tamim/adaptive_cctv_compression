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21945600" cy="32918400"/>
  <p:notesSz cx="6858000" cy="9144000"/>
  <p:embeddedFontLst>
    <p:embeddedFont>
      <p:font typeface="Now" charset="1" panose="00000500000000000000"/>
      <p:regular r:id="rId7"/>
    </p:embeddedFont>
    <p:embeddedFont>
      <p:font typeface="Now Bold" charset="1" panose="00000800000000000000"/>
      <p:regular r:id="rId8"/>
    </p:embeddedFont>
    <p:embeddedFont>
      <p:font typeface="Now Medium" charset="1" panose="0000060000000000000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jpeg" Type="http://schemas.openxmlformats.org/officeDocument/2006/relationships/image"/><Relationship Id="rId15" Target="../media/image14.png" Type="http://schemas.openxmlformats.org/officeDocument/2006/relationships/image"/><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5EDF8"/>
        </a:solidFill>
      </p:bgPr>
    </p:bg>
    <p:spTree>
      <p:nvGrpSpPr>
        <p:cNvPr id="1" name=""/>
        <p:cNvGrpSpPr/>
        <p:nvPr/>
      </p:nvGrpSpPr>
      <p:grpSpPr>
        <a:xfrm>
          <a:off x="0" y="0"/>
          <a:ext cx="0" cy="0"/>
          <a:chOff x="0" y="0"/>
          <a:chExt cx="0" cy="0"/>
        </a:xfrm>
      </p:grpSpPr>
      <p:grpSp>
        <p:nvGrpSpPr>
          <p:cNvPr name="Group 2" id="2"/>
          <p:cNvGrpSpPr/>
          <p:nvPr/>
        </p:nvGrpSpPr>
        <p:grpSpPr>
          <a:xfrm rot="0">
            <a:off x="12371503" y="24951460"/>
            <a:ext cx="9162309" cy="3954321"/>
            <a:chOff x="0" y="0"/>
            <a:chExt cx="13492220" cy="5823049"/>
          </a:xfrm>
        </p:grpSpPr>
        <p:sp>
          <p:nvSpPr>
            <p:cNvPr name="Freeform 3" id="3"/>
            <p:cNvSpPr/>
            <p:nvPr/>
          </p:nvSpPr>
          <p:spPr>
            <a:xfrm flipH="false" flipV="false" rot="0">
              <a:off x="0" y="0"/>
              <a:ext cx="13492220" cy="5823049"/>
            </a:xfrm>
            <a:custGeom>
              <a:avLst/>
              <a:gdLst/>
              <a:ahLst/>
              <a:cxnLst/>
              <a:rect r="r" b="b" t="t" l="l"/>
              <a:pathLst>
                <a:path h="5823049" w="13492220">
                  <a:moveTo>
                    <a:pt x="17170" y="0"/>
                  </a:moveTo>
                  <a:lnTo>
                    <a:pt x="13475050" y="0"/>
                  </a:lnTo>
                  <a:cubicBezTo>
                    <a:pt x="13484532" y="0"/>
                    <a:pt x="13492220" y="7687"/>
                    <a:pt x="13492220" y="17170"/>
                  </a:cubicBezTo>
                  <a:lnTo>
                    <a:pt x="13492220" y="5805879"/>
                  </a:lnTo>
                  <a:cubicBezTo>
                    <a:pt x="13492220" y="5815362"/>
                    <a:pt x="13484532" y="5823049"/>
                    <a:pt x="13475050" y="5823049"/>
                  </a:cubicBezTo>
                  <a:lnTo>
                    <a:pt x="17170" y="5823049"/>
                  </a:lnTo>
                  <a:cubicBezTo>
                    <a:pt x="12616" y="5823049"/>
                    <a:pt x="8249" y="5821240"/>
                    <a:pt x="5029" y="5818020"/>
                  </a:cubicBezTo>
                  <a:cubicBezTo>
                    <a:pt x="1809" y="5814800"/>
                    <a:pt x="0" y="5810433"/>
                    <a:pt x="0" y="5805879"/>
                  </a:cubicBezTo>
                  <a:lnTo>
                    <a:pt x="0" y="17170"/>
                  </a:lnTo>
                  <a:cubicBezTo>
                    <a:pt x="0" y="7687"/>
                    <a:pt x="7687" y="0"/>
                    <a:pt x="17170" y="0"/>
                  </a:cubicBezTo>
                  <a:close/>
                </a:path>
              </a:pathLst>
            </a:custGeom>
            <a:solidFill>
              <a:srgbClr val="FFFFFF"/>
            </a:solidFill>
            <a:ln w="85725" cap="rnd">
              <a:solidFill>
                <a:srgbClr val="1A0A3D"/>
              </a:solidFill>
              <a:prstDash val="solid"/>
              <a:round/>
            </a:ln>
          </p:spPr>
        </p:sp>
        <p:sp>
          <p:nvSpPr>
            <p:cNvPr name="TextBox 4" id="4"/>
            <p:cNvSpPr txBox="true"/>
            <p:nvPr/>
          </p:nvSpPr>
          <p:spPr>
            <a:xfrm>
              <a:off x="0" y="-9525"/>
              <a:ext cx="13492220" cy="5832574"/>
            </a:xfrm>
            <a:prstGeom prst="rect">
              <a:avLst/>
            </a:prstGeom>
          </p:spPr>
          <p:txBody>
            <a:bodyPr anchor="ctr" rtlCol="false" tIns="33867" lIns="33867" bIns="33867" rIns="33867"/>
            <a:lstStyle/>
            <a:p>
              <a:pPr algn="ctr" marL="0" indent="0" lvl="0">
                <a:lnSpc>
                  <a:spcPts val="1506"/>
                </a:lnSpc>
                <a:spcBef>
                  <a:spcPct val="0"/>
                </a:spcBef>
              </a:pPr>
            </a:p>
          </p:txBody>
        </p:sp>
      </p:grpSp>
      <p:grpSp>
        <p:nvGrpSpPr>
          <p:cNvPr name="Group 5" id="5"/>
          <p:cNvGrpSpPr/>
          <p:nvPr/>
        </p:nvGrpSpPr>
        <p:grpSpPr>
          <a:xfrm rot="0">
            <a:off x="9033815" y="6443702"/>
            <a:ext cx="12499997" cy="18176482"/>
            <a:chOff x="0" y="0"/>
            <a:chExt cx="18013770" cy="26194162"/>
          </a:xfrm>
        </p:grpSpPr>
        <p:sp>
          <p:nvSpPr>
            <p:cNvPr name="Freeform 6" id="6"/>
            <p:cNvSpPr/>
            <p:nvPr/>
          </p:nvSpPr>
          <p:spPr>
            <a:xfrm flipH="false" flipV="false" rot="0">
              <a:off x="0" y="0"/>
              <a:ext cx="18013770" cy="26194162"/>
            </a:xfrm>
            <a:custGeom>
              <a:avLst/>
              <a:gdLst/>
              <a:ahLst/>
              <a:cxnLst/>
              <a:rect r="r" b="b" t="t" l="l"/>
              <a:pathLst>
                <a:path h="26194162" w="18013770">
                  <a:moveTo>
                    <a:pt x="12585" y="0"/>
                  </a:moveTo>
                  <a:lnTo>
                    <a:pt x="18001185" y="0"/>
                  </a:lnTo>
                  <a:cubicBezTo>
                    <a:pt x="18008136" y="0"/>
                    <a:pt x="18013770" y="5635"/>
                    <a:pt x="18013770" y="12585"/>
                  </a:cubicBezTo>
                  <a:lnTo>
                    <a:pt x="18013770" y="26181577"/>
                  </a:lnTo>
                  <a:cubicBezTo>
                    <a:pt x="18013770" y="26188529"/>
                    <a:pt x="18008136" y="26194162"/>
                    <a:pt x="18001185" y="26194162"/>
                  </a:cubicBezTo>
                  <a:lnTo>
                    <a:pt x="12585" y="26194162"/>
                  </a:lnTo>
                  <a:cubicBezTo>
                    <a:pt x="5635" y="26194162"/>
                    <a:pt x="0" y="26188529"/>
                    <a:pt x="0" y="26181577"/>
                  </a:cubicBezTo>
                  <a:lnTo>
                    <a:pt x="0" y="12585"/>
                  </a:lnTo>
                  <a:cubicBezTo>
                    <a:pt x="0" y="5635"/>
                    <a:pt x="5635" y="0"/>
                    <a:pt x="12585" y="0"/>
                  </a:cubicBezTo>
                  <a:close/>
                </a:path>
              </a:pathLst>
            </a:custGeom>
            <a:solidFill>
              <a:srgbClr val="186834"/>
            </a:solidFill>
            <a:ln w="85725" cap="rnd">
              <a:solidFill>
                <a:srgbClr val="1A0A3D"/>
              </a:solidFill>
              <a:prstDash val="solid"/>
              <a:round/>
            </a:ln>
          </p:spPr>
        </p:sp>
        <p:sp>
          <p:nvSpPr>
            <p:cNvPr name="TextBox 7" id="7"/>
            <p:cNvSpPr txBox="true"/>
            <p:nvPr/>
          </p:nvSpPr>
          <p:spPr>
            <a:xfrm>
              <a:off x="0" y="-9525"/>
              <a:ext cx="18013770" cy="26203687"/>
            </a:xfrm>
            <a:prstGeom prst="rect">
              <a:avLst/>
            </a:prstGeom>
          </p:spPr>
          <p:txBody>
            <a:bodyPr anchor="ctr" rtlCol="false" tIns="33867" lIns="33867" bIns="33867" rIns="33867"/>
            <a:lstStyle/>
            <a:p>
              <a:pPr algn="ctr" marL="0" indent="0" lvl="0">
                <a:lnSpc>
                  <a:spcPts val="1506"/>
                </a:lnSpc>
                <a:spcBef>
                  <a:spcPct val="0"/>
                </a:spcBef>
              </a:pPr>
            </a:p>
          </p:txBody>
        </p:sp>
      </p:grpSp>
      <p:grpSp>
        <p:nvGrpSpPr>
          <p:cNvPr name="Group 8" id="8"/>
          <p:cNvGrpSpPr/>
          <p:nvPr/>
        </p:nvGrpSpPr>
        <p:grpSpPr>
          <a:xfrm rot="0">
            <a:off x="8304039" y="5378975"/>
            <a:ext cx="12872524" cy="18993559"/>
            <a:chOff x="0" y="0"/>
            <a:chExt cx="18550620" cy="27371654"/>
          </a:xfrm>
        </p:grpSpPr>
        <p:sp>
          <p:nvSpPr>
            <p:cNvPr name="Freeform 9" id="9"/>
            <p:cNvSpPr/>
            <p:nvPr/>
          </p:nvSpPr>
          <p:spPr>
            <a:xfrm flipH="false" flipV="false" rot="0">
              <a:off x="0" y="0"/>
              <a:ext cx="18550620" cy="27371653"/>
            </a:xfrm>
            <a:custGeom>
              <a:avLst/>
              <a:gdLst/>
              <a:ahLst/>
              <a:cxnLst/>
              <a:rect r="r" b="b" t="t" l="l"/>
              <a:pathLst>
                <a:path h="27371653" w="18550620">
                  <a:moveTo>
                    <a:pt x="12221" y="0"/>
                  </a:moveTo>
                  <a:lnTo>
                    <a:pt x="18538399" y="0"/>
                  </a:lnTo>
                  <a:cubicBezTo>
                    <a:pt x="18541640" y="0"/>
                    <a:pt x="18544749" y="1288"/>
                    <a:pt x="18547040" y="3579"/>
                  </a:cubicBezTo>
                  <a:cubicBezTo>
                    <a:pt x="18549331" y="5871"/>
                    <a:pt x="18550620" y="8980"/>
                    <a:pt x="18550620" y="12221"/>
                  </a:cubicBezTo>
                  <a:lnTo>
                    <a:pt x="18550620" y="27359431"/>
                  </a:lnTo>
                  <a:cubicBezTo>
                    <a:pt x="18550620" y="27362674"/>
                    <a:pt x="18549331" y="27365781"/>
                    <a:pt x="18547040" y="27368075"/>
                  </a:cubicBezTo>
                  <a:cubicBezTo>
                    <a:pt x="18544749" y="27370367"/>
                    <a:pt x="18541640" y="27371653"/>
                    <a:pt x="18538399" y="27371653"/>
                  </a:cubicBezTo>
                  <a:lnTo>
                    <a:pt x="12221" y="27371653"/>
                  </a:lnTo>
                  <a:cubicBezTo>
                    <a:pt x="5472" y="27371653"/>
                    <a:pt x="0" y="27366181"/>
                    <a:pt x="0" y="27359431"/>
                  </a:cubicBezTo>
                  <a:lnTo>
                    <a:pt x="0" y="12221"/>
                  </a:lnTo>
                  <a:cubicBezTo>
                    <a:pt x="0" y="8980"/>
                    <a:pt x="1288" y="5871"/>
                    <a:pt x="3579" y="3579"/>
                  </a:cubicBezTo>
                  <a:cubicBezTo>
                    <a:pt x="5871" y="1288"/>
                    <a:pt x="8980" y="0"/>
                    <a:pt x="12221" y="0"/>
                  </a:cubicBezTo>
                  <a:close/>
                </a:path>
              </a:pathLst>
            </a:custGeom>
            <a:solidFill>
              <a:srgbClr val="FFFFFF"/>
            </a:solidFill>
            <a:ln w="85725" cap="rnd">
              <a:solidFill>
                <a:srgbClr val="1A0A3D"/>
              </a:solidFill>
              <a:prstDash val="solid"/>
              <a:round/>
            </a:ln>
          </p:spPr>
        </p:sp>
        <p:sp>
          <p:nvSpPr>
            <p:cNvPr name="TextBox 10" id="10"/>
            <p:cNvSpPr txBox="true"/>
            <p:nvPr/>
          </p:nvSpPr>
          <p:spPr>
            <a:xfrm>
              <a:off x="0" y="-9525"/>
              <a:ext cx="18550620" cy="27381179"/>
            </a:xfrm>
            <a:prstGeom prst="rect">
              <a:avLst/>
            </a:prstGeom>
          </p:spPr>
          <p:txBody>
            <a:bodyPr anchor="ctr" rtlCol="false" tIns="33867" lIns="33867" bIns="33867" rIns="33867"/>
            <a:lstStyle/>
            <a:p>
              <a:pPr algn="ctr" marL="0" indent="0" lvl="0">
                <a:lnSpc>
                  <a:spcPts val="1506"/>
                </a:lnSpc>
                <a:spcBef>
                  <a:spcPct val="0"/>
                </a:spcBef>
              </a:pPr>
            </a:p>
          </p:txBody>
        </p:sp>
      </p:grpSp>
      <p:grpSp>
        <p:nvGrpSpPr>
          <p:cNvPr name="Group 11" id="11"/>
          <p:cNvGrpSpPr/>
          <p:nvPr/>
        </p:nvGrpSpPr>
        <p:grpSpPr>
          <a:xfrm rot="0">
            <a:off x="8556719" y="6559965"/>
            <a:ext cx="6183581" cy="4484000"/>
            <a:chOff x="0" y="0"/>
            <a:chExt cx="8911171" cy="6461901"/>
          </a:xfrm>
        </p:grpSpPr>
        <p:sp>
          <p:nvSpPr>
            <p:cNvPr name="Freeform 12" id="12"/>
            <p:cNvSpPr/>
            <p:nvPr/>
          </p:nvSpPr>
          <p:spPr>
            <a:xfrm flipH="false" flipV="false" rot="0">
              <a:off x="0" y="0"/>
              <a:ext cx="8911171" cy="6461901"/>
            </a:xfrm>
            <a:custGeom>
              <a:avLst/>
              <a:gdLst/>
              <a:ahLst/>
              <a:cxnLst/>
              <a:rect r="r" b="b" t="t" l="l"/>
              <a:pathLst>
                <a:path h="6461901" w="8911171">
                  <a:moveTo>
                    <a:pt x="25441" y="0"/>
                  </a:moveTo>
                  <a:lnTo>
                    <a:pt x="8885730" y="0"/>
                  </a:lnTo>
                  <a:cubicBezTo>
                    <a:pt x="8892477" y="0"/>
                    <a:pt x="8898948" y="2680"/>
                    <a:pt x="8903719" y="7451"/>
                  </a:cubicBezTo>
                  <a:cubicBezTo>
                    <a:pt x="8908490" y="12223"/>
                    <a:pt x="8911171" y="18694"/>
                    <a:pt x="8911171" y="25441"/>
                  </a:cubicBezTo>
                  <a:lnTo>
                    <a:pt x="8911171" y="6436460"/>
                  </a:lnTo>
                  <a:cubicBezTo>
                    <a:pt x="8911171" y="6450510"/>
                    <a:pt x="8899781" y="6461901"/>
                    <a:pt x="8885730" y="6461901"/>
                  </a:cubicBezTo>
                  <a:lnTo>
                    <a:pt x="25441" y="6461901"/>
                  </a:lnTo>
                  <a:cubicBezTo>
                    <a:pt x="11390" y="6461901"/>
                    <a:pt x="0" y="6450510"/>
                    <a:pt x="0" y="6436460"/>
                  </a:cubicBezTo>
                  <a:lnTo>
                    <a:pt x="0" y="25441"/>
                  </a:lnTo>
                  <a:cubicBezTo>
                    <a:pt x="0" y="11390"/>
                    <a:pt x="11390" y="0"/>
                    <a:pt x="25441" y="0"/>
                  </a:cubicBezTo>
                  <a:close/>
                </a:path>
              </a:pathLst>
            </a:custGeom>
            <a:solidFill>
              <a:srgbClr val="FFFFFF"/>
            </a:solidFill>
            <a:ln w="85725" cap="rnd">
              <a:solidFill>
                <a:srgbClr val="1A0A3D"/>
              </a:solidFill>
              <a:prstDash val="solid"/>
              <a:round/>
            </a:ln>
          </p:spPr>
        </p:sp>
        <p:sp>
          <p:nvSpPr>
            <p:cNvPr name="TextBox 13" id="13"/>
            <p:cNvSpPr txBox="true"/>
            <p:nvPr/>
          </p:nvSpPr>
          <p:spPr>
            <a:xfrm>
              <a:off x="0" y="-9525"/>
              <a:ext cx="8911171" cy="6471426"/>
            </a:xfrm>
            <a:prstGeom prst="rect">
              <a:avLst/>
            </a:prstGeom>
          </p:spPr>
          <p:txBody>
            <a:bodyPr anchor="ctr" rtlCol="false" tIns="33867" lIns="33867" bIns="33867" rIns="33867"/>
            <a:lstStyle/>
            <a:p>
              <a:pPr algn="ctr">
                <a:lnSpc>
                  <a:spcPts val="1506"/>
                </a:lnSpc>
              </a:pPr>
              <a:r>
                <a:rPr lang="en-US" sz="1333">
                  <a:solidFill>
                    <a:srgbClr val="1A0A3D"/>
                  </a:solidFill>
                  <a:latin typeface="Now"/>
                  <a:ea typeface="Now"/>
                  <a:cs typeface="Now"/>
                  <a:sym typeface="Now"/>
                </a:rPr>
                <a:t>    </a:t>
              </a: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619"/>
                </a:lnSpc>
              </a:pPr>
            </a:p>
            <a:p>
              <a:pPr algn="ctr" marL="0" indent="0" lvl="0">
                <a:lnSpc>
                  <a:spcPts val="1619"/>
                </a:lnSpc>
                <a:spcBef>
                  <a:spcPct val="0"/>
                </a:spcBef>
              </a:pPr>
              <a:r>
                <a:rPr lang="en-US" b="true" sz="1433">
                  <a:solidFill>
                    <a:srgbClr val="1A0A3D"/>
                  </a:solidFill>
                  <a:latin typeface="Now Bold"/>
                  <a:ea typeface="Now Bold"/>
                  <a:cs typeface="Now Bold"/>
                  <a:sym typeface="Now Bold"/>
                </a:rPr>
                <a:t>Fig.03: Adaptive ROI-Based Motion Detection on Edge Node</a:t>
              </a:r>
            </a:p>
          </p:txBody>
        </p:sp>
      </p:grpSp>
      <p:grpSp>
        <p:nvGrpSpPr>
          <p:cNvPr name="Group 14" id="14"/>
          <p:cNvGrpSpPr/>
          <p:nvPr/>
        </p:nvGrpSpPr>
        <p:grpSpPr>
          <a:xfrm rot="0">
            <a:off x="10972800" y="5338104"/>
            <a:ext cx="1291687" cy="1028699"/>
            <a:chOff x="0" y="0"/>
            <a:chExt cx="711576" cy="566698"/>
          </a:xfrm>
        </p:grpSpPr>
        <p:sp>
          <p:nvSpPr>
            <p:cNvPr name="Freeform 15" id="15"/>
            <p:cNvSpPr/>
            <p:nvPr/>
          </p:nvSpPr>
          <p:spPr>
            <a:xfrm flipH="false" flipV="false" rot="0">
              <a:off x="0" y="0"/>
              <a:ext cx="711576" cy="566698"/>
            </a:xfrm>
            <a:custGeom>
              <a:avLst/>
              <a:gdLst/>
              <a:ahLst/>
              <a:cxnLst/>
              <a:rect r="r" b="b" t="t" l="l"/>
              <a:pathLst>
                <a:path h="566698" w="711576">
                  <a:moveTo>
                    <a:pt x="121791" y="0"/>
                  </a:moveTo>
                  <a:lnTo>
                    <a:pt x="589785" y="0"/>
                  </a:lnTo>
                  <a:cubicBezTo>
                    <a:pt x="657048" y="0"/>
                    <a:pt x="711576" y="54528"/>
                    <a:pt x="711576" y="121791"/>
                  </a:cubicBezTo>
                  <a:lnTo>
                    <a:pt x="711576" y="444907"/>
                  </a:lnTo>
                  <a:cubicBezTo>
                    <a:pt x="711576" y="512171"/>
                    <a:pt x="657048" y="566698"/>
                    <a:pt x="589785" y="566698"/>
                  </a:cubicBezTo>
                  <a:lnTo>
                    <a:pt x="121791" y="566698"/>
                  </a:lnTo>
                  <a:cubicBezTo>
                    <a:pt x="54528" y="566698"/>
                    <a:pt x="0" y="512171"/>
                    <a:pt x="0" y="444907"/>
                  </a:cubicBezTo>
                  <a:lnTo>
                    <a:pt x="0" y="121791"/>
                  </a:lnTo>
                  <a:cubicBezTo>
                    <a:pt x="0" y="54528"/>
                    <a:pt x="54528" y="0"/>
                    <a:pt x="121791" y="0"/>
                  </a:cubicBezTo>
                  <a:close/>
                </a:path>
              </a:pathLst>
            </a:custGeom>
            <a:solidFill>
              <a:srgbClr val="EAE5F8"/>
            </a:solidFill>
            <a:ln w="66675" cap="rnd">
              <a:solidFill>
                <a:srgbClr val="1A0A3D"/>
              </a:solidFill>
              <a:prstDash val="solid"/>
              <a:round/>
            </a:ln>
          </p:spPr>
        </p:sp>
        <p:sp>
          <p:nvSpPr>
            <p:cNvPr name="TextBox 16" id="16"/>
            <p:cNvSpPr txBox="true"/>
            <p:nvPr/>
          </p:nvSpPr>
          <p:spPr>
            <a:xfrm>
              <a:off x="0" y="9525"/>
              <a:ext cx="711576" cy="557173"/>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D.</a:t>
              </a:r>
            </a:p>
          </p:txBody>
        </p:sp>
      </p:grpSp>
      <p:grpSp>
        <p:nvGrpSpPr>
          <p:cNvPr name="Group 17" id="17"/>
          <p:cNvGrpSpPr/>
          <p:nvPr/>
        </p:nvGrpSpPr>
        <p:grpSpPr>
          <a:xfrm rot="0">
            <a:off x="12840202" y="5309530"/>
            <a:ext cx="5949214" cy="1057273"/>
            <a:chOff x="0" y="0"/>
            <a:chExt cx="3277354" cy="582440"/>
          </a:xfrm>
        </p:grpSpPr>
        <p:sp>
          <p:nvSpPr>
            <p:cNvPr name="Freeform 18" id="18"/>
            <p:cNvSpPr/>
            <p:nvPr/>
          </p:nvSpPr>
          <p:spPr>
            <a:xfrm flipH="false" flipV="false" rot="0">
              <a:off x="0" y="0"/>
              <a:ext cx="3277354" cy="582440"/>
            </a:xfrm>
            <a:custGeom>
              <a:avLst/>
              <a:gdLst/>
              <a:ahLst/>
              <a:cxnLst/>
              <a:rect r="r" b="b" t="t" l="l"/>
              <a:pathLst>
                <a:path h="582440" w="3277354">
                  <a:moveTo>
                    <a:pt x="26443" y="0"/>
                  </a:moveTo>
                  <a:lnTo>
                    <a:pt x="3250911" y="0"/>
                  </a:lnTo>
                  <a:cubicBezTo>
                    <a:pt x="3257924" y="0"/>
                    <a:pt x="3264650" y="2786"/>
                    <a:pt x="3269609" y="7745"/>
                  </a:cubicBezTo>
                  <a:cubicBezTo>
                    <a:pt x="3274568" y="12704"/>
                    <a:pt x="3277354" y="19430"/>
                    <a:pt x="3277354" y="26443"/>
                  </a:cubicBezTo>
                  <a:lnTo>
                    <a:pt x="3277354" y="555997"/>
                  </a:lnTo>
                  <a:cubicBezTo>
                    <a:pt x="3277354" y="563010"/>
                    <a:pt x="3274568" y="569736"/>
                    <a:pt x="3269609" y="574695"/>
                  </a:cubicBezTo>
                  <a:cubicBezTo>
                    <a:pt x="3264650" y="579654"/>
                    <a:pt x="3257924" y="582440"/>
                    <a:pt x="3250911" y="582440"/>
                  </a:cubicBezTo>
                  <a:lnTo>
                    <a:pt x="26443" y="582440"/>
                  </a:lnTo>
                  <a:cubicBezTo>
                    <a:pt x="19430" y="582440"/>
                    <a:pt x="12704" y="579654"/>
                    <a:pt x="7745" y="574695"/>
                  </a:cubicBezTo>
                  <a:cubicBezTo>
                    <a:pt x="2786" y="569736"/>
                    <a:pt x="0" y="563010"/>
                    <a:pt x="0" y="555997"/>
                  </a:cubicBezTo>
                  <a:lnTo>
                    <a:pt x="0" y="26443"/>
                  </a:lnTo>
                  <a:cubicBezTo>
                    <a:pt x="0" y="19430"/>
                    <a:pt x="2786" y="12704"/>
                    <a:pt x="7745" y="7745"/>
                  </a:cubicBezTo>
                  <a:cubicBezTo>
                    <a:pt x="12704" y="2786"/>
                    <a:pt x="19430" y="0"/>
                    <a:pt x="26443" y="0"/>
                  </a:cubicBezTo>
                  <a:close/>
                </a:path>
              </a:pathLst>
            </a:custGeom>
            <a:solidFill>
              <a:srgbClr val="EAE5F8"/>
            </a:solidFill>
            <a:ln w="66675" cap="rnd">
              <a:solidFill>
                <a:srgbClr val="1A0A3D"/>
              </a:solidFill>
              <a:prstDash val="solid"/>
              <a:round/>
            </a:ln>
          </p:spPr>
        </p:sp>
        <p:sp>
          <p:nvSpPr>
            <p:cNvPr name="TextBox 19" id="19"/>
            <p:cNvSpPr txBox="true"/>
            <p:nvPr/>
          </p:nvSpPr>
          <p:spPr>
            <a:xfrm>
              <a:off x="0" y="9525"/>
              <a:ext cx="3277354" cy="572915"/>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Analysis &amp; </a:t>
              </a:r>
              <a:r>
                <a:rPr lang="en-US" b="true" sz="3999">
                  <a:solidFill>
                    <a:srgbClr val="1A0A3D"/>
                  </a:solidFill>
                  <a:latin typeface="Now Medium"/>
                  <a:ea typeface="Now Medium"/>
                  <a:cs typeface="Now Medium"/>
                  <a:sym typeface="Now Medium"/>
                </a:rPr>
                <a:t>Results</a:t>
              </a:r>
            </a:p>
          </p:txBody>
        </p:sp>
      </p:grpSp>
      <p:grpSp>
        <p:nvGrpSpPr>
          <p:cNvPr name="Group 20" id="20"/>
          <p:cNvGrpSpPr/>
          <p:nvPr/>
        </p:nvGrpSpPr>
        <p:grpSpPr>
          <a:xfrm rot="0">
            <a:off x="338671" y="5378975"/>
            <a:ext cx="7655157" cy="6597884"/>
            <a:chOff x="0" y="0"/>
            <a:chExt cx="11031861" cy="9508223"/>
          </a:xfrm>
        </p:grpSpPr>
        <p:sp>
          <p:nvSpPr>
            <p:cNvPr name="Freeform 21" id="21"/>
            <p:cNvSpPr/>
            <p:nvPr/>
          </p:nvSpPr>
          <p:spPr>
            <a:xfrm flipH="false" flipV="false" rot="0">
              <a:off x="0" y="0"/>
              <a:ext cx="11031861" cy="9508224"/>
            </a:xfrm>
            <a:custGeom>
              <a:avLst/>
              <a:gdLst/>
              <a:ahLst/>
              <a:cxnLst/>
              <a:rect r="r" b="b" t="t" l="l"/>
              <a:pathLst>
                <a:path h="9508224" w="11031861">
                  <a:moveTo>
                    <a:pt x="20550" y="0"/>
                  </a:moveTo>
                  <a:lnTo>
                    <a:pt x="11011310" y="0"/>
                  </a:lnTo>
                  <a:cubicBezTo>
                    <a:pt x="11022660" y="0"/>
                    <a:pt x="11031861" y="9201"/>
                    <a:pt x="11031861" y="20550"/>
                  </a:cubicBezTo>
                  <a:lnTo>
                    <a:pt x="11031861" y="9487673"/>
                  </a:lnTo>
                  <a:cubicBezTo>
                    <a:pt x="11031861" y="9499023"/>
                    <a:pt x="11022660" y="9508224"/>
                    <a:pt x="11011310" y="9508224"/>
                  </a:cubicBezTo>
                  <a:lnTo>
                    <a:pt x="20550" y="9508224"/>
                  </a:lnTo>
                  <a:cubicBezTo>
                    <a:pt x="15100" y="9508224"/>
                    <a:pt x="9873" y="9506059"/>
                    <a:pt x="6019" y="9502204"/>
                  </a:cubicBezTo>
                  <a:cubicBezTo>
                    <a:pt x="2165" y="9498350"/>
                    <a:pt x="0" y="9493124"/>
                    <a:pt x="0" y="9487673"/>
                  </a:cubicBezTo>
                  <a:lnTo>
                    <a:pt x="0" y="20550"/>
                  </a:lnTo>
                  <a:cubicBezTo>
                    <a:pt x="0" y="9201"/>
                    <a:pt x="9201" y="0"/>
                    <a:pt x="20550" y="0"/>
                  </a:cubicBezTo>
                  <a:close/>
                </a:path>
              </a:pathLst>
            </a:custGeom>
            <a:solidFill>
              <a:srgbClr val="FFFFFF"/>
            </a:solidFill>
            <a:ln w="85725" cap="rnd">
              <a:solidFill>
                <a:srgbClr val="1A0A3D"/>
              </a:solidFill>
              <a:prstDash val="solid"/>
              <a:round/>
            </a:ln>
          </p:spPr>
        </p:sp>
        <p:sp>
          <p:nvSpPr>
            <p:cNvPr name="TextBox 22" id="22"/>
            <p:cNvSpPr txBox="true"/>
            <p:nvPr/>
          </p:nvSpPr>
          <p:spPr>
            <a:xfrm>
              <a:off x="0" y="-9525"/>
              <a:ext cx="11031861" cy="9517748"/>
            </a:xfrm>
            <a:prstGeom prst="rect">
              <a:avLst/>
            </a:prstGeom>
          </p:spPr>
          <p:txBody>
            <a:bodyPr anchor="ctr" rtlCol="false" tIns="33867" lIns="33867" bIns="33867" rIns="33867"/>
            <a:lstStyle/>
            <a:p>
              <a:pPr algn="ctr" marL="0" indent="0" lvl="0">
                <a:lnSpc>
                  <a:spcPts val="1506"/>
                </a:lnSpc>
                <a:spcBef>
                  <a:spcPct val="0"/>
                </a:spcBef>
              </a:pPr>
            </a:p>
          </p:txBody>
        </p:sp>
      </p:grpSp>
      <p:grpSp>
        <p:nvGrpSpPr>
          <p:cNvPr name="Group 23" id="23"/>
          <p:cNvGrpSpPr/>
          <p:nvPr/>
        </p:nvGrpSpPr>
        <p:grpSpPr>
          <a:xfrm rot="0">
            <a:off x="1459796" y="5338104"/>
            <a:ext cx="1291687" cy="1028699"/>
            <a:chOff x="0" y="0"/>
            <a:chExt cx="711576" cy="566698"/>
          </a:xfrm>
        </p:grpSpPr>
        <p:sp>
          <p:nvSpPr>
            <p:cNvPr name="Freeform 24" id="24"/>
            <p:cNvSpPr/>
            <p:nvPr/>
          </p:nvSpPr>
          <p:spPr>
            <a:xfrm flipH="false" flipV="false" rot="0">
              <a:off x="0" y="0"/>
              <a:ext cx="711576" cy="566698"/>
            </a:xfrm>
            <a:custGeom>
              <a:avLst/>
              <a:gdLst/>
              <a:ahLst/>
              <a:cxnLst/>
              <a:rect r="r" b="b" t="t" l="l"/>
              <a:pathLst>
                <a:path h="566698" w="711576">
                  <a:moveTo>
                    <a:pt x="121791" y="0"/>
                  </a:moveTo>
                  <a:lnTo>
                    <a:pt x="589785" y="0"/>
                  </a:lnTo>
                  <a:cubicBezTo>
                    <a:pt x="657048" y="0"/>
                    <a:pt x="711576" y="54528"/>
                    <a:pt x="711576" y="121791"/>
                  </a:cubicBezTo>
                  <a:lnTo>
                    <a:pt x="711576" y="444907"/>
                  </a:lnTo>
                  <a:cubicBezTo>
                    <a:pt x="711576" y="512171"/>
                    <a:pt x="657048" y="566698"/>
                    <a:pt x="589785" y="566698"/>
                  </a:cubicBezTo>
                  <a:lnTo>
                    <a:pt x="121791" y="566698"/>
                  </a:lnTo>
                  <a:cubicBezTo>
                    <a:pt x="54528" y="566698"/>
                    <a:pt x="0" y="512171"/>
                    <a:pt x="0" y="444907"/>
                  </a:cubicBezTo>
                  <a:lnTo>
                    <a:pt x="0" y="121791"/>
                  </a:lnTo>
                  <a:cubicBezTo>
                    <a:pt x="0" y="54528"/>
                    <a:pt x="54528" y="0"/>
                    <a:pt x="121791" y="0"/>
                  </a:cubicBezTo>
                  <a:close/>
                </a:path>
              </a:pathLst>
            </a:custGeom>
            <a:solidFill>
              <a:srgbClr val="EAE5F8"/>
            </a:solidFill>
            <a:ln w="66675" cap="rnd">
              <a:solidFill>
                <a:srgbClr val="1A0A3D"/>
              </a:solidFill>
              <a:prstDash val="solid"/>
              <a:round/>
            </a:ln>
          </p:spPr>
        </p:sp>
        <p:sp>
          <p:nvSpPr>
            <p:cNvPr name="TextBox 25" id="25"/>
            <p:cNvSpPr txBox="true"/>
            <p:nvPr/>
          </p:nvSpPr>
          <p:spPr>
            <a:xfrm>
              <a:off x="0" y="9525"/>
              <a:ext cx="711576" cy="557173"/>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A.</a:t>
              </a:r>
            </a:p>
          </p:txBody>
        </p:sp>
      </p:grpSp>
      <p:grpSp>
        <p:nvGrpSpPr>
          <p:cNvPr name="Group 26" id="26"/>
          <p:cNvGrpSpPr/>
          <p:nvPr/>
        </p:nvGrpSpPr>
        <p:grpSpPr>
          <a:xfrm rot="0">
            <a:off x="3031289" y="5323817"/>
            <a:ext cx="3656926" cy="1057273"/>
            <a:chOff x="0" y="0"/>
            <a:chExt cx="2014559" cy="582440"/>
          </a:xfrm>
        </p:grpSpPr>
        <p:sp>
          <p:nvSpPr>
            <p:cNvPr name="Freeform 27" id="27"/>
            <p:cNvSpPr/>
            <p:nvPr/>
          </p:nvSpPr>
          <p:spPr>
            <a:xfrm flipH="false" flipV="false" rot="0">
              <a:off x="0" y="0"/>
              <a:ext cx="2014559" cy="582440"/>
            </a:xfrm>
            <a:custGeom>
              <a:avLst/>
              <a:gdLst/>
              <a:ahLst/>
              <a:cxnLst/>
              <a:rect r="r" b="b" t="t" l="l"/>
              <a:pathLst>
                <a:path h="582440" w="2014559">
                  <a:moveTo>
                    <a:pt x="43019" y="0"/>
                  </a:moveTo>
                  <a:lnTo>
                    <a:pt x="1971540" y="0"/>
                  </a:lnTo>
                  <a:cubicBezTo>
                    <a:pt x="1982949" y="0"/>
                    <a:pt x="1993891" y="4532"/>
                    <a:pt x="2001959" y="12600"/>
                  </a:cubicBezTo>
                  <a:cubicBezTo>
                    <a:pt x="2010026" y="20667"/>
                    <a:pt x="2014559" y="31609"/>
                    <a:pt x="2014559" y="43019"/>
                  </a:cubicBezTo>
                  <a:lnTo>
                    <a:pt x="2014559" y="539421"/>
                  </a:lnTo>
                  <a:cubicBezTo>
                    <a:pt x="2014559" y="550830"/>
                    <a:pt x="2010026" y="561772"/>
                    <a:pt x="2001959" y="569840"/>
                  </a:cubicBezTo>
                  <a:cubicBezTo>
                    <a:pt x="1993891" y="577907"/>
                    <a:pt x="1982949" y="582440"/>
                    <a:pt x="1971540" y="582440"/>
                  </a:cubicBezTo>
                  <a:lnTo>
                    <a:pt x="43019" y="582440"/>
                  </a:lnTo>
                  <a:cubicBezTo>
                    <a:pt x="31609" y="582440"/>
                    <a:pt x="20667" y="577907"/>
                    <a:pt x="12600" y="569840"/>
                  </a:cubicBezTo>
                  <a:cubicBezTo>
                    <a:pt x="4532" y="561772"/>
                    <a:pt x="0" y="550830"/>
                    <a:pt x="0" y="539421"/>
                  </a:cubicBezTo>
                  <a:lnTo>
                    <a:pt x="0" y="43019"/>
                  </a:lnTo>
                  <a:cubicBezTo>
                    <a:pt x="0" y="31609"/>
                    <a:pt x="4532" y="20667"/>
                    <a:pt x="12600" y="12600"/>
                  </a:cubicBezTo>
                  <a:cubicBezTo>
                    <a:pt x="20667" y="4532"/>
                    <a:pt x="31609" y="0"/>
                    <a:pt x="43019" y="0"/>
                  </a:cubicBezTo>
                  <a:close/>
                </a:path>
              </a:pathLst>
            </a:custGeom>
            <a:solidFill>
              <a:srgbClr val="EAE5F8"/>
            </a:solidFill>
            <a:ln w="66675" cap="rnd">
              <a:solidFill>
                <a:srgbClr val="1A0A3D"/>
              </a:solidFill>
              <a:prstDash val="solid"/>
              <a:round/>
            </a:ln>
          </p:spPr>
        </p:sp>
        <p:sp>
          <p:nvSpPr>
            <p:cNvPr name="TextBox 28" id="28"/>
            <p:cNvSpPr txBox="true"/>
            <p:nvPr/>
          </p:nvSpPr>
          <p:spPr>
            <a:xfrm>
              <a:off x="0" y="9525"/>
              <a:ext cx="2014559" cy="572915"/>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Abstract</a:t>
              </a:r>
            </a:p>
          </p:txBody>
        </p:sp>
      </p:grpSp>
      <p:grpSp>
        <p:nvGrpSpPr>
          <p:cNvPr name="Group 29" id="29"/>
          <p:cNvGrpSpPr/>
          <p:nvPr/>
        </p:nvGrpSpPr>
        <p:grpSpPr>
          <a:xfrm rot="0">
            <a:off x="338671" y="12167359"/>
            <a:ext cx="7803442" cy="7128804"/>
            <a:chOff x="0" y="0"/>
            <a:chExt cx="11245555" cy="10273333"/>
          </a:xfrm>
        </p:grpSpPr>
        <p:sp>
          <p:nvSpPr>
            <p:cNvPr name="Freeform 30" id="30"/>
            <p:cNvSpPr/>
            <p:nvPr/>
          </p:nvSpPr>
          <p:spPr>
            <a:xfrm flipH="false" flipV="false" rot="0">
              <a:off x="0" y="0"/>
              <a:ext cx="11245555" cy="10273333"/>
            </a:xfrm>
            <a:custGeom>
              <a:avLst/>
              <a:gdLst/>
              <a:ahLst/>
              <a:cxnLst/>
              <a:rect r="r" b="b" t="t" l="l"/>
              <a:pathLst>
                <a:path h="10273333" w="11245555">
                  <a:moveTo>
                    <a:pt x="20160" y="0"/>
                  </a:moveTo>
                  <a:lnTo>
                    <a:pt x="11225395" y="0"/>
                  </a:lnTo>
                  <a:cubicBezTo>
                    <a:pt x="11236530" y="0"/>
                    <a:pt x="11245555" y="9026"/>
                    <a:pt x="11245555" y="20160"/>
                  </a:cubicBezTo>
                  <a:lnTo>
                    <a:pt x="11245555" y="10253173"/>
                  </a:lnTo>
                  <a:cubicBezTo>
                    <a:pt x="11245555" y="10258520"/>
                    <a:pt x="11243432" y="10263647"/>
                    <a:pt x="11239651" y="10267428"/>
                  </a:cubicBezTo>
                  <a:cubicBezTo>
                    <a:pt x="11235870" y="10271209"/>
                    <a:pt x="11230742" y="10273333"/>
                    <a:pt x="11225395" y="10273333"/>
                  </a:cubicBezTo>
                  <a:lnTo>
                    <a:pt x="20160" y="10273333"/>
                  </a:lnTo>
                  <a:cubicBezTo>
                    <a:pt x="14813" y="10273333"/>
                    <a:pt x="9685" y="10271209"/>
                    <a:pt x="5905" y="10267428"/>
                  </a:cubicBezTo>
                  <a:cubicBezTo>
                    <a:pt x="2124" y="10263647"/>
                    <a:pt x="0" y="10258520"/>
                    <a:pt x="0" y="10253173"/>
                  </a:cubicBezTo>
                  <a:lnTo>
                    <a:pt x="0" y="20160"/>
                  </a:lnTo>
                  <a:cubicBezTo>
                    <a:pt x="0" y="14813"/>
                    <a:pt x="2124" y="9685"/>
                    <a:pt x="5905" y="5905"/>
                  </a:cubicBezTo>
                  <a:cubicBezTo>
                    <a:pt x="9685" y="2124"/>
                    <a:pt x="14813" y="0"/>
                    <a:pt x="20160" y="0"/>
                  </a:cubicBezTo>
                  <a:close/>
                </a:path>
              </a:pathLst>
            </a:custGeom>
            <a:solidFill>
              <a:srgbClr val="FFFFFF"/>
            </a:solidFill>
            <a:ln w="85725" cap="rnd">
              <a:solidFill>
                <a:srgbClr val="1A0A3D"/>
              </a:solidFill>
              <a:prstDash val="solid"/>
              <a:round/>
            </a:ln>
          </p:spPr>
        </p:sp>
        <p:sp>
          <p:nvSpPr>
            <p:cNvPr name="TextBox 31" id="31"/>
            <p:cNvSpPr txBox="true"/>
            <p:nvPr/>
          </p:nvSpPr>
          <p:spPr>
            <a:xfrm>
              <a:off x="0" y="-9525"/>
              <a:ext cx="11245555" cy="10282858"/>
            </a:xfrm>
            <a:prstGeom prst="rect">
              <a:avLst/>
            </a:prstGeom>
          </p:spPr>
          <p:txBody>
            <a:bodyPr anchor="ctr" rtlCol="false" tIns="33867" lIns="33867" bIns="33867" rIns="33867"/>
            <a:lstStyle/>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695"/>
                </a:lnSpc>
              </a:pPr>
            </a:p>
            <a:p>
              <a:pPr algn="ctr">
                <a:lnSpc>
                  <a:spcPts val="1695"/>
                </a:lnSpc>
              </a:pPr>
            </a:p>
            <a:p>
              <a:pPr algn="ctr">
                <a:lnSpc>
                  <a:spcPts val="1695"/>
                </a:lnSpc>
              </a:pPr>
            </a:p>
            <a:p>
              <a:pPr algn="ctr">
                <a:lnSpc>
                  <a:spcPts val="1695"/>
                </a:lnSpc>
              </a:pPr>
            </a:p>
            <a:p>
              <a:pPr algn="ctr">
                <a:lnSpc>
                  <a:spcPts val="1695"/>
                </a:lnSpc>
              </a:pPr>
            </a:p>
            <a:p>
              <a:pPr algn="ctr">
                <a:lnSpc>
                  <a:spcPts val="1695"/>
                </a:lnSpc>
              </a:pPr>
            </a:p>
            <a:p>
              <a:pPr algn="ctr" marL="0" indent="0" lvl="0">
                <a:lnSpc>
                  <a:spcPts val="1695"/>
                </a:lnSpc>
                <a:spcBef>
                  <a:spcPct val="0"/>
                </a:spcBef>
              </a:pPr>
              <a:r>
                <a:rPr lang="en-US" b="true" sz="1500">
                  <a:solidFill>
                    <a:srgbClr val="1A0A3D"/>
                  </a:solidFill>
                  <a:latin typeface="Now Bold"/>
                  <a:ea typeface="Now Bold"/>
                  <a:cs typeface="Now Bold"/>
                  <a:sym typeface="Now Bold"/>
                </a:rPr>
                <a:t>Fig.</a:t>
              </a:r>
              <a:r>
                <a:rPr lang="en-US" b="true" sz="1500">
                  <a:solidFill>
                    <a:srgbClr val="1A0A3D"/>
                  </a:solidFill>
                  <a:latin typeface="Now Bold"/>
                  <a:ea typeface="Now Bold"/>
                  <a:cs typeface="Now Bold"/>
                  <a:sym typeface="Now Bold"/>
                </a:rPr>
                <a:t>01: Structure of the proposed model</a:t>
              </a:r>
            </a:p>
          </p:txBody>
        </p:sp>
      </p:grpSp>
      <p:grpSp>
        <p:nvGrpSpPr>
          <p:cNvPr name="Group 32" id="32"/>
          <p:cNvGrpSpPr/>
          <p:nvPr/>
        </p:nvGrpSpPr>
        <p:grpSpPr>
          <a:xfrm rot="0">
            <a:off x="1549911" y="12124496"/>
            <a:ext cx="1291687" cy="1028699"/>
            <a:chOff x="0" y="0"/>
            <a:chExt cx="711576" cy="566698"/>
          </a:xfrm>
        </p:grpSpPr>
        <p:sp>
          <p:nvSpPr>
            <p:cNvPr name="Freeform 33" id="33"/>
            <p:cNvSpPr/>
            <p:nvPr/>
          </p:nvSpPr>
          <p:spPr>
            <a:xfrm flipH="false" flipV="false" rot="0">
              <a:off x="0" y="0"/>
              <a:ext cx="711576" cy="566698"/>
            </a:xfrm>
            <a:custGeom>
              <a:avLst/>
              <a:gdLst/>
              <a:ahLst/>
              <a:cxnLst/>
              <a:rect r="r" b="b" t="t" l="l"/>
              <a:pathLst>
                <a:path h="566698" w="711576">
                  <a:moveTo>
                    <a:pt x="121791" y="0"/>
                  </a:moveTo>
                  <a:lnTo>
                    <a:pt x="589785" y="0"/>
                  </a:lnTo>
                  <a:cubicBezTo>
                    <a:pt x="657048" y="0"/>
                    <a:pt x="711576" y="54528"/>
                    <a:pt x="711576" y="121791"/>
                  </a:cubicBezTo>
                  <a:lnTo>
                    <a:pt x="711576" y="444907"/>
                  </a:lnTo>
                  <a:cubicBezTo>
                    <a:pt x="711576" y="512171"/>
                    <a:pt x="657048" y="566698"/>
                    <a:pt x="589785" y="566698"/>
                  </a:cubicBezTo>
                  <a:lnTo>
                    <a:pt x="121791" y="566698"/>
                  </a:lnTo>
                  <a:cubicBezTo>
                    <a:pt x="54528" y="566698"/>
                    <a:pt x="0" y="512171"/>
                    <a:pt x="0" y="444907"/>
                  </a:cubicBezTo>
                  <a:lnTo>
                    <a:pt x="0" y="121791"/>
                  </a:lnTo>
                  <a:cubicBezTo>
                    <a:pt x="0" y="54528"/>
                    <a:pt x="54528" y="0"/>
                    <a:pt x="121791" y="0"/>
                  </a:cubicBezTo>
                  <a:close/>
                </a:path>
              </a:pathLst>
            </a:custGeom>
            <a:solidFill>
              <a:srgbClr val="EAE5F8"/>
            </a:solidFill>
            <a:ln w="66675" cap="rnd">
              <a:solidFill>
                <a:srgbClr val="1A0A3D"/>
              </a:solidFill>
              <a:prstDash val="solid"/>
              <a:round/>
            </a:ln>
          </p:spPr>
        </p:sp>
        <p:sp>
          <p:nvSpPr>
            <p:cNvPr name="TextBox 34" id="34"/>
            <p:cNvSpPr txBox="true"/>
            <p:nvPr/>
          </p:nvSpPr>
          <p:spPr>
            <a:xfrm>
              <a:off x="0" y="9525"/>
              <a:ext cx="711576" cy="557173"/>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B.</a:t>
              </a:r>
            </a:p>
          </p:txBody>
        </p:sp>
      </p:grpSp>
      <p:grpSp>
        <p:nvGrpSpPr>
          <p:cNvPr name="Group 35" id="35"/>
          <p:cNvGrpSpPr/>
          <p:nvPr/>
        </p:nvGrpSpPr>
        <p:grpSpPr>
          <a:xfrm rot="0">
            <a:off x="3307514" y="12110209"/>
            <a:ext cx="3176475" cy="1057273"/>
            <a:chOff x="0" y="0"/>
            <a:chExt cx="1749884" cy="582440"/>
          </a:xfrm>
        </p:grpSpPr>
        <p:sp>
          <p:nvSpPr>
            <p:cNvPr name="Freeform 36" id="36"/>
            <p:cNvSpPr/>
            <p:nvPr/>
          </p:nvSpPr>
          <p:spPr>
            <a:xfrm flipH="false" flipV="false" rot="0">
              <a:off x="0" y="0"/>
              <a:ext cx="1749884" cy="582440"/>
            </a:xfrm>
            <a:custGeom>
              <a:avLst/>
              <a:gdLst/>
              <a:ahLst/>
              <a:cxnLst/>
              <a:rect r="r" b="b" t="t" l="l"/>
              <a:pathLst>
                <a:path h="582440" w="1749884">
                  <a:moveTo>
                    <a:pt x="49525" y="0"/>
                  </a:moveTo>
                  <a:lnTo>
                    <a:pt x="1700358" y="0"/>
                  </a:lnTo>
                  <a:cubicBezTo>
                    <a:pt x="1727710" y="0"/>
                    <a:pt x="1749884" y="22173"/>
                    <a:pt x="1749884" y="49525"/>
                  </a:cubicBezTo>
                  <a:lnTo>
                    <a:pt x="1749884" y="532914"/>
                  </a:lnTo>
                  <a:cubicBezTo>
                    <a:pt x="1749884" y="560267"/>
                    <a:pt x="1727710" y="582440"/>
                    <a:pt x="1700358" y="582440"/>
                  </a:cubicBezTo>
                  <a:lnTo>
                    <a:pt x="49525" y="582440"/>
                  </a:lnTo>
                  <a:cubicBezTo>
                    <a:pt x="22173" y="582440"/>
                    <a:pt x="0" y="560267"/>
                    <a:pt x="0" y="532914"/>
                  </a:cubicBezTo>
                  <a:lnTo>
                    <a:pt x="0" y="49525"/>
                  </a:lnTo>
                  <a:cubicBezTo>
                    <a:pt x="0" y="22173"/>
                    <a:pt x="22173" y="0"/>
                    <a:pt x="49525" y="0"/>
                  </a:cubicBezTo>
                  <a:close/>
                </a:path>
              </a:pathLst>
            </a:custGeom>
            <a:solidFill>
              <a:srgbClr val="EAE5F8"/>
            </a:solidFill>
            <a:ln w="66675" cap="rnd">
              <a:solidFill>
                <a:srgbClr val="1A0A3D"/>
              </a:solidFill>
              <a:prstDash val="solid"/>
              <a:round/>
            </a:ln>
          </p:spPr>
        </p:sp>
        <p:sp>
          <p:nvSpPr>
            <p:cNvPr name="TextBox 37" id="37"/>
            <p:cNvSpPr txBox="true"/>
            <p:nvPr/>
          </p:nvSpPr>
          <p:spPr>
            <a:xfrm>
              <a:off x="0" y="9525"/>
              <a:ext cx="1749884" cy="572915"/>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Structure</a:t>
              </a:r>
            </a:p>
          </p:txBody>
        </p:sp>
      </p:grpSp>
      <p:grpSp>
        <p:nvGrpSpPr>
          <p:cNvPr name="Group 38" id="38"/>
          <p:cNvGrpSpPr/>
          <p:nvPr/>
        </p:nvGrpSpPr>
        <p:grpSpPr>
          <a:xfrm rot="0">
            <a:off x="14259950" y="24782082"/>
            <a:ext cx="1291687" cy="1057273"/>
            <a:chOff x="0" y="0"/>
            <a:chExt cx="711576" cy="582440"/>
          </a:xfrm>
        </p:grpSpPr>
        <p:sp>
          <p:nvSpPr>
            <p:cNvPr name="Freeform 39" id="39"/>
            <p:cNvSpPr/>
            <p:nvPr/>
          </p:nvSpPr>
          <p:spPr>
            <a:xfrm flipH="false" flipV="false" rot="0">
              <a:off x="0" y="0"/>
              <a:ext cx="711576" cy="582440"/>
            </a:xfrm>
            <a:custGeom>
              <a:avLst/>
              <a:gdLst/>
              <a:ahLst/>
              <a:cxnLst/>
              <a:rect r="r" b="b" t="t" l="l"/>
              <a:pathLst>
                <a:path h="582440" w="711576">
                  <a:moveTo>
                    <a:pt x="121791" y="0"/>
                  </a:moveTo>
                  <a:lnTo>
                    <a:pt x="589785" y="0"/>
                  </a:lnTo>
                  <a:cubicBezTo>
                    <a:pt x="657048" y="0"/>
                    <a:pt x="711576" y="54528"/>
                    <a:pt x="711576" y="121791"/>
                  </a:cubicBezTo>
                  <a:lnTo>
                    <a:pt x="711576" y="460649"/>
                  </a:lnTo>
                  <a:cubicBezTo>
                    <a:pt x="711576" y="527912"/>
                    <a:pt x="657048" y="582440"/>
                    <a:pt x="589785" y="582440"/>
                  </a:cubicBezTo>
                  <a:lnTo>
                    <a:pt x="121791" y="582440"/>
                  </a:lnTo>
                  <a:cubicBezTo>
                    <a:pt x="54528" y="582440"/>
                    <a:pt x="0" y="527912"/>
                    <a:pt x="0" y="460649"/>
                  </a:cubicBezTo>
                  <a:lnTo>
                    <a:pt x="0" y="121791"/>
                  </a:lnTo>
                  <a:cubicBezTo>
                    <a:pt x="0" y="54528"/>
                    <a:pt x="54528" y="0"/>
                    <a:pt x="121791" y="0"/>
                  </a:cubicBezTo>
                  <a:close/>
                </a:path>
              </a:pathLst>
            </a:custGeom>
            <a:solidFill>
              <a:srgbClr val="EAE5F8"/>
            </a:solidFill>
            <a:ln w="66675" cap="rnd">
              <a:solidFill>
                <a:srgbClr val="1A0A3D"/>
              </a:solidFill>
              <a:prstDash val="solid"/>
              <a:round/>
            </a:ln>
          </p:spPr>
        </p:sp>
        <p:sp>
          <p:nvSpPr>
            <p:cNvPr name="TextBox 40" id="40"/>
            <p:cNvSpPr txBox="true"/>
            <p:nvPr/>
          </p:nvSpPr>
          <p:spPr>
            <a:xfrm>
              <a:off x="0" y="9525"/>
              <a:ext cx="711576" cy="572915"/>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E</a:t>
              </a:r>
              <a:r>
                <a:rPr lang="en-US" b="true" sz="3999">
                  <a:solidFill>
                    <a:srgbClr val="1A0A3D"/>
                  </a:solidFill>
                  <a:latin typeface="Now Medium"/>
                  <a:ea typeface="Now Medium"/>
                  <a:cs typeface="Now Medium"/>
                  <a:sym typeface="Now Medium"/>
                </a:rPr>
                <a:t>.</a:t>
              </a:r>
            </a:p>
          </p:txBody>
        </p:sp>
      </p:grpSp>
      <p:grpSp>
        <p:nvGrpSpPr>
          <p:cNvPr name="Group 41" id="41"/>
          <p:cNvGrpSpPr/>
          <p:nvPr/>
        </p:nvGrpSpPr>
        <p:grpSpPr>
          <a:xfrm rot="0">
            <a:off x="15919186" y="24763058"/>
            <a:ext cx="3896597" cy="1057273"/>
            <a:chOff x="0" y="0"/>
            <a:chExt cx="2146590" cy="582440"/>
          </a:xfrm>
        </p:grpSpPr>
        <p:sp>
          <p:nvSpPr>
            <p:cNvPr name="Freeform 42" id="42"/>
            <p:cNvSpPr/>
            <p:nvPr/>
          </p:nvSpPr>
          <p:spPr>
            <a:xfrm flipH="false" flipV="false" rot="0">
              <a:off x="0" y="0"/>
              <a:ext cx="2146590" cy="582440"/>
            </a:xfrm>
            <a:custGeom>
              <a:avLst/>
              <a:gdLst/>
              <a:ahLst/>
              <a:cxnLst/>
              <a:rect r="r" b="b" t="t" l="l"/>
              <a:pathLst>
                <a:path h="582440" w="2146590">
                  <a:moveTo>
                    <a:pt x="40373" y="0"/>
                  </a:moveTo>
                  <a:lnTo>
                    <a:pt x="2106218" y="0"/>
                  </a:lnTo>
                  <a:cubicBezTo>
                    <a:pt x="2128515" y="0"/>
                    <a:pt x="2146590" y="18075"/>
                    <a:pt x="2146590" y="40373"/>
                  </a:cubicBezTo>
                  <a:lnTo>
                    <a:pt x="2146590" y="542067"/>
                  </a:lnTo>
                  <a:cubicBezTo>
                    <a:pt x="2146590" y="552775"/>
                    <a:pt x="2142337" y="563044"/>
                    <a:pt x="2134766" y="570615"/>
                  </a:cubicBezTo>
                  <a:cubicBezTo>
                    <a:pt x="2127194" y="578186"/>
                    <a:pt x="2116925" y="582440"/>
                    <a:pt x="2106218" y="582440"/>
                  </a:cubicBezTo>
                  <a:lnTo>
                    <a:pt x="40373" y="582440"/>
                  </a:lnTo>
                  <a:cubicBezTo>
                    <a:pt x="29665" y="582440"/>
                    <a:pt x="19396" y="578186"/>
                    <a:pt x="11825" y="570615"/>
                  </a:cubicBezTo>
                  <a:cubicBezTo>
                    <a:pt x="4254" y="563044"/>
                    <a:pt x="0" y="552775"/>
                    <a:pt x="0" y="542067"/>
                  </a:cubicBezTo>
                  <a:lnTo>
                    <a:pt x="0" y="40373"/>
                  </a:lnTo>
                  <a:cubicBezTo>
                    <a:pt x="0" y="29665"/>
                    <a:pt x="4254" y="19396"/>
                    <a:pt x="11825" y="11825"/>
                  </a:cubicBezTo>
                  <a:cubicBezTo>
                    <a:pt x="19396" y="4254"/>
                    <a:pt x="29665" y="0"/>
                    <a:pt x="40373" y="0"/>
                  </a:cubicBezTo>
                  <a:close/>
                </a:path>
              </a:pathLst>
            </a:custGeom>
            <a:solidFill>
              <a:srgbClr val="EAE5F8"/>
            </a:solidFill>
            <a:ln w="66675" cap="rnd">
              <a:solidFill>
                <a:srgbClr val="1A0A3D"/>
              </a:solidFill>
              <a:prstDash val="solid"/>
              <a:round/>
            </a:ln>
          </p:spPr>
        </p:sp>
        <p:sp>
          <p:nvSpPr>
            <p:cNvPr name="TextBox 43" id="43"/>
            <p:cNvSpPr txBox="true"/>
            <p:nvPr/>
          </p:nvSpPr>
          <p:spPr>
            <a:xfrm>
              <a:off x="0" y="9525"/>
              <a:ext cx="2146590" cy="572915"/>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Conclusion</a:t>
              </a:r>
            </a:p>
          </p:txBody>
        </p:sp>
      </p:grpSp>
      <p:grpSp>
        <p:nvGrpSpPr>
          <p:cNvPr name="Group 44" id="44"/>
          <p:cNvGrpSpPr/>
          <p:nvPr/>
        </p:nvGrpSpPr>
        <p:grpSpPr>
          <a:xfrm rot="0">
            <a:off x="338671" y="19486663"/>
            <a:ext cx="7803442" cy="5133521"/>
            <a:chOff x="0" y="0"/>
            <a:chExt cx="11245555" cy="7397927"/>
          </a:xfrm>
        </p:grpSpPr>
        <p:sp>
          <p:nvSpPr>
            <p:cNvPr name="Freeform 45" id="45"/>
            <p:cNvSpPr/>
            <p:nvPr/>
          </p:nvSpPr>
          <p:spPr>
            <a:xfrm flipH="false" flipV="false" rot="0">
              <a:off x="0" y="0"/>
              <a:ext cx="11245555" cy="7397927"/>
            </a:xfrm>
            <a:custGeom>
              <a:avLst/>
              <a:gdLst/>
              <a:ahLst/>
              <a:cxnLst/>
              <a:rect r="r" b="b" t="t" l="l"/>
              <a:pathLst>
                <a:path h="7397927" w="11245555">
                  <a:moveTo>
                    <a:pt x="20160" y="0"/>
                  </a:moveTo>
                  <a:lnTo>
                    <a:pt x="11225395" y="0"/>
                  </a:lnTo>
                  <a:cubicBezTo>
                    <a:pt x="11236530" y="0"/>
                    <a:pt x="11245555" y="9026"/>
                    <a:pt x="11245555" y="20160"/>
                  </a:cubicBezTo>
                  <a:lnTo>
                    <a:pt x="11245555" y="7377767"/>
                  </a:lnTo>
                  <a:cubicBezTo>
                    <a:pt x="11245555" y="7383114"/>
                    <a:pt x="11243432" y="7388241"/>
                    <a:pt x="11239651" y="7392022"/>
                  </a:cubicBezTo>
                  <a:cubicBezTo>
                    <a:pt x="11235870" y="7395803"/>
                    <a:pt x="11230742" y="7397927"/>
                    <a:pt x="11225395" y="7397927"/>
                  </a:cubicBezTo>
                  <a:lnTo>
                    <a:pt x="20160" y="7397927"/>
                  </a:lnTo>
                  <a:cubicBezTo>
                    <a:pt x="9026" y="7397927"/>
                    <a:pt x="0" y="7388901"/>
                    <a:pt x="0" y="7377767"/>
                  </a:cubicBezTo>
                  <a:lnTo>
                    <a:pt x="0" y="20160"/>
                  </a:lnTo>
                  <a:cubicBezTo>
                    <a:pt x="0" y="14813"/>
                    <a:pt x="2124" y="9685"/>
                    <a:pt x="5905" y="5905"/>
                  </a:cubicBezTo>
                  <a:cubicBezTo>
                    <a:pt x="9685" y="2124"/>
                    <a:pt x="14813" y="0"/>
                    <a:pt x="20160" y="0"/>
                  </a:cubicBezTo>
                  <a:close/>
                </a:path>
              </a:pathLst>
            </a:custGeom>
            <a:solidFill>
              <a:srgbClr val="FFFFFF"/>
            </a:solidFill>
            <a:ln w="85725" cap="rnd">
              <a:solidFill>
                <a:srgbClr val="1A0A3D"/>
              </a:solidFill>
              <a:prstDash val="solid"/>
              <a:round/>
            </a:ln>
          </p:spPr>
        </p:sp>
        <p:sp>
          <p:nvSpPr>
            <p:cNvPr name="TextBox 46" id="46"/>
            <p:cNvSpPr txBox="true"/>
            <p:nvPr/>
          </p:nvSpPr>
          <p:spPr>
            <a:xfrm>
              <a:off x="0" y="-9525"/>
              <a:ext cx="11245555" cy="7407452"/>
            </a:xfrm>
            <a:prstGeom prst="rect">
              <a:avLst/>
            </a:prstGeom>
          </p:spPr>
          <p:txBody>
            <a:bodyPr anchor="ctr" rtlCol="false" tIns="33867" lIns="33867" bIns="33867" rIns="33867"/>
            <a:lstStyle/>
            <a:p>
              <a:pPr algn="ctr" marL="0" indent="0" lvl="0">
                <a:lnSpc>
                  <a:spcPts val="1506"/>
                </a:lnSpc>
                <a:spcBef>
                  <a:spcPct val="0"/>
                </a:spcBef>
              </a:pPr>
            </a:p>
          </p:txBody>
        </p:sp>
      </p:grpSp>
      <p:grpSp>
        <p:nvGrpSpPr>
          <p:cNvPr name="Group 47" id="47"/>
          <p:cNvGrpSpPr/>
          <p:nvPr/>
        </p:nvGrpSpPr>
        <p:grpSpPr>
          <a:xfrm rot="0">
            <a:off x="1477911" y="19393513"/>
            <a:ext cx="1291687" cy="1028699"/>
            <a:chOff x="0" y="0"/>
            <a:chExt cx="711576" cy="566698"/>
          </a:xfrm>
        </p:grpSpPr>
        <p:sp>
          <p:nvSpPr>
            <p:cNvPr name="Freeform 48" id="48"/>
            <p:cNvSpPr/>
            <p:nvPr/>
          </p:nvSpPr>
          <p:spPr>
            <a:xfrm flipH="false" flipV="false" rot="0">
              <a:off x="0" y="0"/>
              <a:ext cx="711576" cy="566698"/>
            </a:xfrm>
            <a:custGeom>
              <a:avLst/>
              <a:gdLst/>
              <a:ahLst/>
              <a:cxnLst/>
              <a:rect r="r" b="b" t="t" l="l"/>
              <a:pathLst>
                <a:path h="566698" w="711576">
                  <a:moveTo>
                    <a:pt x="121791" y="0"/>
                  </a:moveTo>
                  <a:lnTo>
                    <a:pt x="589785" y="0"/>
                  </a:lnTo>
                  <a:cubicBezTo>
                    <a:pt x="657048" y="0"/>
                    <a:pt x="711576" y="54528"/>
                    <a:pt x="711576" y="121791"/>
                  </a:cubicBezTo>
                  <a:lnTo>
                    <a:pt x="711576" y="444907"/>
                  </a:lnTo>
                  <a:cubicBezTo>
                    <a:pt x="711576" y="512171"/>
                    <a:pt x="657048" y="566698"/>
                    <a:pt x="589785" y="566698"/>
                  </a:cubicBezTo>
                  <a:lnTo>
                    <a:pt x="121791" y="566698"/>
                  </a:lnTo>
                  <a:cubicBezTo>
                    <a:pt x="54528" y="566698"/>
                    <a:pt x="0" y="512171"/>
                    <a:pt x="0" y="444907"/>
                  </a:cubicBezTo>
                  <a:lnTo>
                    <a:pt x="0" y="121791"/>
                  </a:lnTo>
                  <a:cubicBezTo>
                    <a:pt x="0" y="54528"/>
                    <a:pt x="54528" y="0"/>
                    <a:pt x="121791" y="0"/>
                  </a:cubicBezTo>
                  <a:close/>
                </a:path>
              </a:pathLst>
            </a:custGeom>
            <a:solidFill>
              <a:srgbClr val="EAE5F8"/>
            </a:solidFill>
            <a:ln w="66675" cap="rnd">
              <a:solidFill>
                <a:srgbClr val="1A0A3D"/>
              </a:solidFill>
              <a:prstDash val="solid"/>
              <a:round/>
            </a:ln>
          </p:spPr>
        </p:sp>
        <p:sp>
          <p:nvSpPr>
            <p:cNvPr name="TextBox 49" id="49"/>
            <p:cNvSpPr txBox="true"/>
            <p:nvPr/>
          </p:nvSpPr>
          <p:spPr>
            <a:xfrm>
              <a:off x="0" y="9525"/>
              <a:ext cx="711576" cy="557173"/>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C.</a:t>
              </a:r>
            </a:p>
          </p:txBody>
        </p:sp>
      </p:grpSp>
      <p:grpSp>
        <p:nvGrpSpPr>
          <p:cNvPr name="Group 50" id="50"/>
          <p:cNvGrpSpPr/>
          <p:nvPr/>
        </p:nvGrpSpPr>
        <p:grpSpPr>
          <a:xfrm rot="0">
            <a:off x="3031289" y="19393513"/>
            <a:ext cx="4113733" cy="1057273"/>
            <a:chOff x="0" y="0"/>
            <a:chExt cx="2266208" cy="582440"/>
          </a:xfrm>
        </p:grpSpPr>
        <p:sp>
          <p:nvSpPr>
            <p:cNvPr name="Freeform 51" id="51"/>
            <p:cNvSpPr/>
            <p:nvPr/>
          </p:nvSpPr>
          <p:spPr>
            <a:xfrm flipH="false" flipV="false" rot="0">
              <a:off x="0" y="0"/>
              <a:ext cx="2266208" cy="582440"/>
            </a:xfrm>
            <a:custGeom>
              <a:avLst/>
              <a:gdLst/>
              <a:ahLst/>
              <a:cxnLst/>
              <a:rect r="r" b="b" t="t" l="l"/>
              <a:pathLst>
                <a:path h="582440" w="2266208">
                  <a:moveTo>
                    <a:pt x="38242" y="0"/>
                  </a:moveTo>
                  <a:lnTo>
                    <a:pt x="2227967" y="0"/>
                  </a:lnTo>
                  <a:cubicBezTo>
                    <a:pt x="2238109" y="0"/>
                    <a:pt x="2247836" y="4029"/>
                    <a:pt x="2255008" y="11201"/>
                  </a:cubicBezTo>
                  <a:cubicBezTo>
                    <a:pt x="2262179" y="18372"/>
                    <a:pt x="2266208" y="28099"/>
                    <a:pt x="2266208" y="38242"/>
                  </a:cubicBezTo>
                  <a:lnTo>
                    <a:pt x="2266208" y="544198"/>
                  </a:lnTo>
                  <a:cubicBezTo>
                    <a:pt x="2266208" y="565318"/>
                    <a:pt x="2249087" y="582440"/>
                    <a:pt x="2227967" y="582440"/>
                  </a:cubicBezTo>
                  <a:lnTo>
                    <a:pt x="38242" y="582440"/>
                  </a:lnTo>
                  <a:cubicBezTo>
                    <a:pt x="17121" y="582440"/>
                    <a:pt x="0" y="565318"/>
                    <a:pt x="0" y="544198"/>
                  </a:cubicBezTo>
                  <a:lnTo>
                    <a:pt x="0" y="38242"/>
                  </a:lnTo>
                  <a:cubicBezTo>
                    <a:pt x="0" y="17121"/>
                    <a:pt x="17121" y="0"/>
                    <a:pt x="38242" y="0"/>
                  </a:cubicBezTo>
                  <a:close/>
                </a:path>
              </a:pathLst>
            </a:custGeom>
            <a:solidFill>
              <a:srgbClr val="EAE5F8"/>
            </a:solidFill>
            <a:ln w="66675" cap="rnd">
              <a:solidFill>
                <a:srgbClr val="1A0A3D"/>
              </a:solidFill>
              <a:prstDash val="solid"/>
              <a:round/>
            </a:ln>
          </p:spPr>
        </p:sp>
        <p:sp>
          <p:nvSpPr>
            <p:cNvPr name="TextBox 52" id="52"/>
            <p:cNvSpPr txBox="true"/>
            <p:nvPr/>
          </p:nvSpPr>
          <p:spPr>
            <a:xfrm>
              <a:off x="0" y="9525"/>
              <a:ext cx="2266208" cy="572915"/>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Methodology</a:t>
              </a:r>
            </a:p>
          </p:txBody>
        </p:sp>
      </p:grpSp>
      <p:grpSp>
        <p:nvGrpSpPr>
          <p:cNvPr name="Group 53" id="53"/>
          <p:cNvGrpSpPr/>
          <p:nvPr/>
        </p:nvGrpSpPr>
        <p:grpSpPr>
          <a:xfrm rot="0">
            <a:off x="386752" y="288378"/>
            <a:ext cx="21147061" cy="4887802"/>
            <a:chOff x="0" y="0"/>
            <a:chExt cx="7094419" cy="1639760"/>
          </a:xfrm>
        </p:grpSpPr>
        <p:sp>
          <p:nvSpPr>
            <p:cNvPr name="Freeform 54" id="54"/>
            <p:cNvSpPr/>
            <p:nvPr/>
          </p:nvSpPr>
          <p:spPr>
            <a:xfrm flipH="false" flipV="false" rot="0">
              <a:off x="0" y="0"/>
              <a:ext cx="7094419" cy="1639760"/>
            </a:xfrm>
            <a:custGeom>
              <a:avLst/>
              <a:gdLst/>
              <a:ahLst/>
              <a:cxnLst/>
              <a:rect r="r" b="b" t="t" l="l"/>
              <a:pathLst>
                <a:path h="1639760" w="7094419">
                  <a:moveTo>
                    <a:pt x="9565" y="0"/>
                  </a:moveTo>
                  <a:lnTo>
                    <a:pt x="7084854" y="0"/>
                  </a:lnTo>
                  <a:cubicBezTo>
                    <a:pt x="7087391" y="0"/>
                    <a:pt x="7089824" y="1008"/>
                    <a:pt x="7091618" y="2801"/>
                  </a:cubicBezTo>
                  <a:cubicBezTo>
                    <a:pt x="7093411" y="4595"/>
                    <a:pt x="7094419" y="7028"/>
                    <a:pt x="7094419" y="9565"/>
                  </a:cubicBezTo>
                  <a:lnTo>
                    <a:pt x="7094419" y="1630196"/>
                  </a:lnTo>
                  <a:cubicBezTo>
                    <a:pt x="7094419" y="1632733"/>
                    <a:pt x="7093411" y="1635165"/>
                    <a:pt x="7091618" y="1636959"/>
                  </a:cubicBezTo>
                  <a:cubicBezTo>
                    <a:pt x="7089824" y="1638753"/>
                    <a:pt x="7087391" y="1639760"/>
                    <a:pt x="7084854" y="1639760"/>
                  </a:cubicBezTo>
                  <a:lnTo>
                    <a:pt x="9565" y="1639760"/>
                  </a:lnTo>
                  <a:cubicBezTo>
                    <a:pt x="7028" y="1639760"/>
                    <a:pt x="4595" y="1638753"/>
                    <a:pt x="2801" y="1636959"/>
                  </a:cubicBezTo>
                  <a:cubicBezTo>
                    <a:pt x="1008" y="1635165"/>
                    <a:pt x="0" y="1632733"/>
                    <a:pt x="0" y="1630196"/>
                  </a:cubicBezTo>
                  <a:lnTo>
                    <a:pt x="0" y="9565"/>
                  </a:lnTo>
                  <a:cubicBezTo>
                    <a:pt x="0" y="7028"/>
                    <a:pt x="1008" y="4595"/>
                    <a:pt x="2801" y="2801"/>
                  </a:cubicBezTo>
                  <a:cubicBezTo>
                    <a:pt x="4595" y="1008"/>
                    <a:pt x="7028" y="0"/>
                    <a:pt x="9565" y="0"/>
                  </a:cubicBezTo>
                  <a:close/>
                </a:path>
              </a:pathLst>
            </a:custGeom>
            <a:solidFill>
              <a:srgbClr val="FFFFFF"/>
            </a:solidFill>
            <a:ln w="85725" cap="rnd">
              <a:gradFill>
                <a:gsLst>
                  <a:gs pos="0">
                    <a:srgbClr val="000000">
                      <a:alpha val="100000"/>
                    </a:srgbClr>
                  </a:gs>
                  <a:gs pos="100000">
                    <a:srgbClr val="3533CD">
                      <a:alpha val="100000"/>
                    </a:srgbClr>
                  </a:gs>
                </a:gsLst>
                <a:lin ang="0"/>
              </a:gradFill>
              <a:prstDash val="solid"/>
              <a:round/>
            </a:ln>
          </p:spPr>
        </p:sp>
        <p:sp>
          <p:nvSpPr>
            <p:cNvPr name="TextBox 55" id="55"/>
            <p:cNvSpPr txBox="true"/>
            <p:nvPr/>
          </p:nvSpPr>
          <p:spPr>
            <a:xfrm>
              <a:off x="0" y="-123825"/>
              <a:ext cx="7094419" cy="1763585"/>
            </a:xfrm>
            <a:prstGeom prst="rect">
              <a:avLst/>
            </a:prstGeom>
          </p:spPr>
          <p:txBody>
            <a:bodyPr anchor="ctr" rtlCol="false" tIns="33867" lIns="33867" bIns="33867" rIns="33867"/>
            <a:lstStyle/>
            <a:p>
              <a:pPr algn="ctr" marL="0" indent="0" lvl="0">
                <a:lnSpc>
                  <a:spcPts val="6531"/>
                </a:lnSpc>
              </a:pPr>
              <a:r>
                <a:rPr lang="en-US" sz="4354" u="none">
                  <a:solidFill>
                    <a:srgbClr val="1A0A3D"/>
                  </a:solidFill>
                  <a:latin typeface="Now"/>
                  <a:ea typeface="Now"/>
                  <a:cs typeface="Now"/>
                  <a:sym typeface="Now"/>
                </a:rPr>
                <a:t>              </a:t>
              </a:r>
              <a:r>
                <a:rPr lang="en-US" b="true" sz="4354" u="none">
                  <a:solidFill>
                    <a:srgbClr val="1A0A3D"/>
                  </a:solidFill>
                  <a:latin typeface="Now Bold"/>
                  <a:ea typeface="Now Bold"/>
                  <a:cs typeface="Now Bold"/>
                  <a:sym typeface="Now Bold"/>
                </a:rPr>
                <a:t>ADAPTIVE CCTV COMPRESSION SYSTEM USING DYNAMIC REGION OF INTEREST (ROI) CONTROL</a:t>
              </a:r>
            </a:p>
            <a:p>
              <a:pPr algn="ctr" marL="0" indent="0" lvl="0">
                <a:lnSpc>
                  <a:spcPts val="4354"/>
                </a:lnSpc>
              </a:pPr>
              <a:r>
                <a:rPr lang="en-US" b="true" sz="2902" u="none">
                  <a:solidFill>
                    <a:srgbClr val="1A0A3D"/>
                  </a:solidFill>
                  <a:latin typeface="Now Bold"/>
                  <a:ea typeface="Now Bold"/>
                  <a:cs typeface="Now Bold"/>
                  <a:sym typeface="Now Bold"/>
                </a:rPr>
                <a:t>           </a:t>
              </a:r>
              <a:r>
                <a:rPr lang="en-US" b="true" sz="2902" u="none">
                  <a:solidFill>
                    <a:srgbClr val="1A0A3D"/>
                  </a:solidFill>
                  <a:latin typeface="Now Bold"/>
                  <a:ea typeface="Now Bold"/>
                  <a:cs typeface="Now Bold"/>
                  <a:sym typeface="Now Bold"/>
                </a:rPr>
                <a:t>Shakibul Islam              Mostofa Main Uddin                Jannatul Tabassum</a:t>
              </a:r>
            </a:p>
            <a:p>
              <a:pPr algn="ctr" marL="0" indent="0" lvl="0">
                <a:lnSpc>
                  <a:spcPts val="4354"/>
                </a:lnSpc>
              </a:pPr>
              <a:r>
                <a:rPr lang="en-US" b="true" sz="2902" u="none">
                  <a:solidFill>
                    <a:srgbClr val="1A0A3D"/>
                  </a:solidFill>
                  <a:latin typeface="Now Bold"/>
                  <a:ea typeface="Now Bold"/>
                  <a:cs typeface="Now Bold"/>
                  <a:sym typeface="Now Bold"/>
                </a:rPr>
                <a:t>DEPARTMENT OF CSE</a:t>
              </a:r>
            </a:p>
            <a:p>
              <a:pPr algn="ctr" marL="0" indent="0" lvl="0">
                <a:lnSpc>
                  <a:spcPts val="4354"/>
                </a:lnSpc>
              </a:pPr>
              <a:r>
                <a:rPr lang="en-US" b="true" sz="2902" u="none">
                  <a:solidFill>
                    <a:srgbClr val="1A0A3D"/>
                  </a:solidFill>
                  <a:latin typeface="Now Bold"/>
                  <a:ea typeface="Now Bold"/>
                  <a:cs typeface="Now Bold"/>
                  <a:sym typeface="Now Bold"/>
                </a:rPr>
                <a:t>BANGLADESH ARMY INTERNATIONAL UNIVERSITY OF SCIENCE AND TECHNOLOGY(BAIUST),CUMILLA</a:t>
              </a:r>
            </a:p>
          </p:txBody>
        </p:sp>
      </p:grpSp>
      <p:sp>
        <p:nvSpPr>
          <p:cNvPr name="Freeform 56" id="56"/>
          <p:cNvSpPr/>
          <p:nvPr/>
        </p:nvSpPr>
        <p:spPr>
          <a:xfrm flipH="false" flipV="false" rot="0">
            <a:off x="799963" y="720773"/>
            <a:ext cx="2903723" cy="2947573"/>
          </a:xfrm>
          <a:custGeom>
            <a:avLst/>
            <a:gdLst/>
            <a:ahLst/>
            <a:cxnLst/>
            <a:rect r="r" b="b" t="t" l="l"/>
            <a:pathLst>
              <a:path h="2947573" w="2903723">
                <a:moveTo>
                  <a:pt x="0" y="0"/>
                </a:moveTo>
                <a:lnTo>
                  <a:pt x="2903723" y="0"/>
                </a:lnTo>
                <a:lnTo>
                  <a:pt x="2903723" y="2947574"/>
                </a:lnTo>
                <a:lnTo>
                  <a:pt x="0" y="2947574"/>
                </a:lnTo>
                <a:lnTo>
                  <a:pt x="0" y="0"/>
                </a:lnTo>
                <a:close/>
              </a:path>
            </a:pathLst>
          </a:custGeom>
          <a:blipFill>
            <a:blip r:embed="rId2"/>
            <a:stretch>
              <a:fillRect l="0" t="0" r="-1510" b="0"/>
            </a:stretch>
          </a:blipFill>
        </p:spPr>
      </p:sp>
      <p:sp>
        <p:nvSpPr>
          <p:cNvPr name="TextBox 57" id="57"/>
          <p:cNvSpPr txBox="true"/>
          <p:nvPr/>
        </p:nvSpPr>
        <p:spPr>
          <a:xfrm rot="0">
            <a:off x="302671" y="20498411"/>
            <a:ext cx="7677517" cy="4113265"/>
          </a:xfrm>
          <a:prstGeom prst="rect">
            <a:avLst/>
          </a:prstGeom>
        </p:spPr>
        <p:txBody>
          <a:bodyPr anchor="t" rtlCol="false" tIns="0" lIns="0" bIns="0" rIns="0">
            <a:spAutoFit/>
          </a:bodyPr>
          <a:lstStyle/>
          <a:p>
            <a:pPr algn="just" marL="417859" indent="-208929" lvl="1">
              <a:lnSpc>
                <a:spcPts val="2709"/>
              </a:lnSpc>
              <a:buFont typeface="Arial"/>
              <a:buChar char="•"/>
            </a:pPr>
            <a:r>
              <a:rPr lang="en-US" sz="1935">
                <a:solidFill>
                  <a:srgbClr val="000000"/>
                </a:solidFill>
                <a:latin typeface="Now"/>
                <a:ea typeface="Now"/>
                <a:cs typeface="Now"/>
                <a:sym typeface="Now"/>
              </a:rPr>
              <a:t>Captured live video frames using Python (OpenCV).</a:t>
            </a:r>
          </a:p>
          <a:p>
            <a:pPr algn="just" marL="417859" indent="-208929" lvl="1">
              <a:lnSpc>
                <a:spcPts val="2709"/>
              </a:lnSpc>
              <a:buFont typeface="Arial"/>
              <a:buChar char="•"/>
            </a:pPr>
            <a:r>
              <a:rPr lang="en-US" sz="1935">
                <a:solidFill>
                  <a:srgbClr val="000000"/>
                </a:solidFill>
                <a:latin typeface="Now"/>
                <a:ea typeface="Now"/>
                <a:cs typeface="Now"/>
                <a:sym typeface="Now"/>
              </a:rPr>
              <a:t>Detected faces/hands with MediaPipe to mark ROI.</a:t>
            </a:r>
          </a:p>
          <a:p>
            <a:pPr algn="just" marL="417859" indent="-208929" lvl="1">
              <a:lnSpc>
                <a:spcPts val="2709"/>
              </a:lnSpc>
              <a:buFont typeface="Arial"/>
              <a:buChar char="•"/>
            </a:pPr>
            <a:r>
              <a:rPr lang="en-US" sz="1935">
                <a:solidFill>
                  <a:srgbClr val="000000"/>
                </a:solidFill>
                <a:latin typeface="Now"/>
                <a:ea typeface="Now"/>
                <a:cs typeface="Now"/>
                <a:sym typeface="Now"/>
              </a:rPr>
              <a:t>Split each frame into ROI and background regions.</a:t>
            </a:r>
          </a:p>
          <a:p>
            <a:pPr algn="just" marL="417859" indent="-208929" lvl="1">
              <a:lnSpc>
                <a:spcPts val="2709"/>
              </a:lnSpc>
              <a:buFont typeface="Arial"/>
              <a:buChar char="•"/>
            </a:pPr>
            <a:r>
              <a:rPr lang="en-US" sz="1935">
                <a:solidFill>
                  <a:srgbClr val="000000"/>
                </a:solidFill>
                <a:latin typeface="Now"/>
                <a:ea typeface="Now"/>
                <a:cs typeface="Now"/>
                <a:sym typeface="Now"/>
              </a:rPr>
              <a:t>Applied high-quality JPEG compression to ROI and low-quality JPEG to background.</a:t>
            </a:r>
          </a:p>
          <a:p>
            <a:pPr algn="just" marL="417859" indent="-208929" lvl="1">
              <a:lnSpc>
                <a:spcPts val="2709"/>
              </a:lnSpc>
              <a:buFont typeface="Arial"/>
              <a:buChar char="•"/>
            </a:pPr>
            <a:r>
              <a:rPr lang="en-US" sz="1935">
                <a:solidFill>
                  <a:srgbClr val="000000"/>
                </a:solidFill>
                <a:latin typeface="Now"/>
                <a:ea typeface="Now"/>
                <a:cs typeface="Now"/>
                <a:sym typeface="Now"/>
              </a:rPr>
              <a:t>Reconstructed frames using NumPy, generating the adaptive output.</a:t>
            </a:r>
          </a:p>
          <a:p>
            <a:pPr algn="just" marL="417859" indent="-208929" lvl="1">
              <a:lnSpc>
                <a:spcPts val="2709"/>
              </a:lnSpc>
              <a:buFont typeface="Arial"/>
              <a:buChar char="•"/>
            </a:pPr>
            <a:r>
              <a:rPr lang="en-US" sz="1935">
                <a:solidFill>
                  <a:srgbClr val="000000"/>
                </a:solidFill>
                <a:latin typeface="Now"/>
                <a:ea typeface="Now"/>
                <a:cs typeface="Now"/>
                <a:sym typeface="Now"/>
              </a:rPr>
              <a:t>L</a:t>
            </a:r>
            <a:r>
              <a:rPr lang="en-US" sz="1935">
                <a:solidFill>
                  <a:srgbClr val="000000"/>
                </a:solidFill>
                <a:latin typeface="Now"/>
                <a:ea typeface="Now"/>
                <a:cs typeface="Now"/>
                <a:sym typeface="Now"/>
              </a:rPr>
              <a:t>ogged bitrate changes, control signals, and experiment data using Node.js server.</a:t>
            </a:r>
          </a:p>
          <a:p>
            <a:pPr algn="just" marL="417859" indent="-208929" lvl="1">
              <a:lnSpc>
                <a:spcPts val="2709"/>
              </a:lnSpc>
              <a:buFont typeface="Arial"/>
              <a:buChar char="•"/>
            </a:pPr>
            <a:r>
              <a:rPr lang="en-US" sz="1935">
                <a:solidFill>
                  <a:srgbClr val="000000"/>
                </a:solidFill>
                <a:latin typeface="Now"/>
                <a:ea typeface="Now"/>
                <a:cs typeface="Now"/>
                <a:sym typeface="Now"/>
              </a:rPr>
              <a:t>Visualized compression results and system behavior using sample outputs and experiment screenshots (Fig.02).</a:t>
            </a:r>
          </a:p>
          <a:p>
            <a:pPr algn="just">
              <a:lnSpc>
                <a:spcPts val="2709"/>
              </a:lnSpc>
            </a:pPr>
          </a:p>
        </p:txBody>
      </p:sp>
      <p:grpSp>
        <p:nvGrpSpPr>
          <p:cNvPr name="Group 58" id="58"/>
          <p:cNvGrpSpPr/>
          <p:nvPr/>
        </p:nvGrpSpPr>
        <p:grpSpPr>
          <a:xfrm rot="0">
            <a:off x="374066" y="24782082"/>
            <a:ext cx="11820587" cy="7942793"/>
            <a:chOff x="0" y="0"/>
            <a:chExt cx="17034670" cy="11446374"/>
          </a:xfrm>
        </p:grpSpPr>
        <p:sp>
          <p:nvSpPr>
            <p:cNvPr name="Freeform 59" id="59"/>
            <p:cNvSpPr/>
            <p:nvPr/>
          </p:nvSpPr>
          <p:spPr>
            <a:xfrm flipH="false" flipV="false" rot="0">
              <a:off x="0" y="0"/>
              <a:ext cx="17034670" cy="11446374"/>
            </a:xfrm>
            <a:custGeom>
              <a:avLst/>
              <a:gdLst/>
              <a:ahLst/>
              <a:cxnLst/>
              <a:rect r="r" b="b" t="t" l="l"/>
              <a:pathLst>
                <a:path h="11446374" w="17034670">
                  <a:moveTo>
                    <a:pt x="13309" y="0"/>
                  </a:moveTo>
                  <a:lnTo>
                    <a:pt x="17021361" y="0"/>
                  </a:lnTo>
                  <a:cubicBezTo>
                    <a:pt x="17028713" y="0"/>
                    <a:pt x="17034670" y="5958"/>
                    <a:pt x="17034670" y="13309"/>
                  </a:cubicBezTo>
                  <a:lnTo>
                    <a:pt x="17034670" y="11433066"/>
                  </a:lnTo>
                  <a:cubicBezTo>
                    <a:pt x="17034670" y="11440416"/>
                    <a:pt x="17028713" y="11446374"/>
                    <a:pt x="17021361" y="11446374"/>
                  </a:cubicBezTo>
                  <a:lnTo>
                    <a:pt x="13309" y="11446374"/>
                  </a:lnTo>
                  <a:cubicBezTo>
                    <a:pt x="5958" y="11446374"/>
                    <a:pt x="0" y="11440416"/>
                    <a:pt x="0" y="11433066"/>
                  </a:cubicBezTo>
                  <a:lnTo>
                    <a:pt x="0" y="13309"/>
                  </a:lnTo>
                  <a:cubicBezTo>
                    <a:pt x="0" y="5958"/>
                    <a:pt x="5958" y="0"/>
                    <a:pt x="13309" y="0"/>
                  </a:cubicBezTo>
                  <a:close/>
                </a:path>
              </a:pathLst>
            </a:custGeom>
            <a:solidFill>
              <a:srgbClr val="FFFFFF"/>
            </a:solidFill>
            <a:ln w="85725" cap="rnd">
              <a:solidFill>
                <a:srgbClr val="1A0A3D"/>
              </a:solidFill>
              <a:prstDash val="solid"/>
              <a:round/>
            </a:ln>
          </p:spPr>
        </p:sp>
        <p:sp>
          <p:nvSpPr>
            <p:cNvPr name="TextBox 60" id="60"/>
            <p:cNvSpPr txBox="true"/>
            <p:nvPr/>
          </p:nvSpPr>
          <p:spPr>
            <a:xfrm>
              <a:off x="0" y="-9525"/>
              <a:ext cx="17034670" cy="11455899"/>
            </a:xfrm>
            <a:prstGeom prst="rect">
              <a:avLst/>
            </a:prstGeom>
          </p:spPr>
          <p:txBody>
            <a:bodyPr anchor="ctr" rtlCol="false" tIns="33867" lIns="33867" bIns="33867" rIns="33867"/>
            <a:lstStyle/>
            <a:p>
              <a:pPr algn="ctr">
                <a:lnSpc>
                  <a:spcPts val="1506"/>
                </a:lnSpc>
              </a:pPr>
              <a:r>
                <a:rPr lang="en-US" sz="1333">
                  <a:solidFill>
                    <a:srgbClr val="1A0A3D"/>
                  </a:solidFill>
                  <a:latin typeface="Now"/>
                  <a:ea typeface="Now"/>
                  <a:cs typeface="Now"/>
                  <a:sym typeface="Now"/>
                </a:rPr>
                <a:t>                       </a:t>
              </a: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r>
                <a:rPr lang="en-US" sz="1333" b="true">
                  <a:solidFill>
                    <a:srgbClr val="1A0A3D"/>
                  </a:solidFill>
                  <a:latin typeface="Now Bold"/>
                  <a:ea typeface="Now Bold"/>
                  <a:cs typeface="Now Bold"/>
                  <a:sym typeface="Now Bold"/>
                </a:rPr>
                <a:t>(a)</a:t>
              </a:r>
              <a:r>
                <a:rPr lang="en-US" sz="1333">
                  <a:solidFill>
                    <a:srgbClr val="1A0A3D"/>
                  </a:solidFill>
                  <a:latin typeface="Now"/>
                  <a:ea typeface="Now"/>
                  <a:cs typeface="Now"/>
                  <a:sym typeface="Now"/>
                </a:rPr>
                <a:t>                                                                      </a:t>
              </a:r>
              <a:r>
                <a:rPr lang="en-US" sz="1333" b="true">
                  <a:solidFill>
                    <a:srgbClr val="1A0A3D"/>
                  </a:solidFill>
                  <a:latin typeface="Now Bold"/>
                  <a:ea typeface="Now Bold"/>
                  <a:cs typeface="Now Bold"/>
                  <a:sym typeface="Now Bold"/>
                </a:rPr>
                <a:t>(b)</a:t>
              </a:r>
              <a:r>
                <a:rPr lang="en-US" sz="1333">
                  <a:solidFill>
                    <a:srgbClr val="1A0A3D"/>
                  </a:solidFill>
                  <a:latin typeface="Now"/>
                  <a:ea typeface="Now"/>
                  <a:cs typeface="Now"/>
                  <a:sym typeface="Now"/>
                </a:rPr>
                <a:t>                                                                           </a:t>
              </a:r>
              <a:r>
                <a:rPr lang="en-US" sz="1333" b="true">
                  <a:solidFill>
                    <a:srgbClr val="1A0A3D"/>
                  </a:solidFill>
                  <a:latin typeface="Now Bold"/>
                  <a:ea typeface="Now Bold"/>
                  <a:cs typeface="Now Bold"/>
                  <a:sym typeface="Now Bold"/>
                </a:rPr>
                <a:t>(c) </a:t>
              </a:r>
              <a:r>
                <a:rPr lang="en-US" sz="1333">
                  <a:solidFill>
                    <a:srgbClr val="1A0A3D"/>
                  </a:solidFill>
                  <a:latin typeface="Now"/>
                  <a:ea typeface="Now"/>
                  <a:cs typeface="Now"/>
                  <a:sym typeface="Now"/>
                </a:rPr>
                <a:t> </a:t>
              </a: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r>
                <a:rPr lang="en-US" sz="1333" b="true">
                  <a:solidFill>
                    <a:srgbClr val="1A0A3D"/>
                  </a:solidFill>
                  <a:latin typeface="Now Bold"/>
                  <a:ea typeface="Now Bold"/>
                  <a:cs typeface="Now Bold"/>
                  <a:sym typeface="Now Bold"/>
                </a:rPr>
                <a:t>(d)</a:t>
              </a:r>
            </a:p>
            <a:p>
              <a:pPr algn="ctr">
                <a:lnSpc>
                  <a:spcPts val="1506"/>
                </a:lnSpc>
              </a:pPr>
              <a:r>
                <a:rPr lang="en-US" sz="1333" b="true">
                  <a:solidFill>
                    <a:srgbClr val="1A0A3D"/>
                  </a:solidFill>
                  <a:latin typeface="Now Bold"/>
                  <a:ea typeface="Now Bold"/>
                  <a:cs typeface="Now Bold"/>
                  <a:sym typeface="Now Bold"/>
                </a:rPr>
                <a:t>Fig.02: Compression performance  (a) orginal.jpg, (b) roi_high_quality.jpg, (c) background_low_quality.jpg, (d) comparison_side_by_side.jpg  </a:t>
              </a:r>
            </a:p>
            <a:p>
              <a:pPr algn="ctr" marL="0" indent="0" lvl="0">
                <a:lnSpc>
                  <a:spcPts val="1506"/>
                </a:lnSpc>
                <a:spcBef>
                  <a:spcPct val="0"/>
                </a:spcBef>
              </a:pPr>
            </a:p>
          </p:txBody>
        </p:sp>
      </p:grpSp>
      <p:sp>
        <p:nvSpPr>
          <p:cNvPr name="Freeform 61" id="61"/>
          <p:cNvSpPr/>
          <p:nvPr/>
        </p:nvSpPr>
        <p:spPr>
          <a:xfrm flipH="false" flipV="false" rot="0">
            <a:off x="587278" y="24919793"/>
            <a:ext cx="3543577" cy="3354181"/>
          </a:xfrm>
          <a:custGeom>
            <a:avLst/>
            <a:gdLst/>
            <a:ahLst/>
            <a:cxnLst/>
            <a:rect r="r" b="b" t="t" l="l"/>
            <a:pathLst>
              <a:path h="3354181" w="3543577">
                <a:moveTo>
                  <a:pt x="0" y="0"/>
                </a:moveTo>
                <a:lnTo>
                  <a:pt x="3543577" y="0"/>
                </a:lnTo>
                <a:lnTo>
                  <a:pt x="3543577" y="3354181"/>
                </a:lnTo>
                <a:lnTo>
                  <a:pt x="0" y="3354181"/>
                </a:lnTo>
                <a:lnTo>
                  <a:pt x="0" y="0"/>
                </a:lnTo>
                <a:close/>
              </a:path>
            </a:pathLst>
          </a:custGeom>
          <a:blipFill>
            <a:blip r:embed="rId3"/>
            <a:stretch>
              <a:fillRect l="-27180" t="-2795" r="-11348" b="-6967"/>
            </a:stretch>
          </a:blipFill>
        </p:spPr>
      </p:sp>
      <p:sp>
        <p:nvSpPr>
          <p:cNvPr name="Freeform 62" id="62"/>
          <p:cNvSpPr/>
          <p:nvPr/>
        </p:nvSpPr>
        <p:spPr>
          <a:xfrm flipH="false" flipV="false" rot="0">
            <a:off x="4240393" y="24919793"/>
            <a:ext cx="3969694" cy="3354181"/>
          </a:xfrm>
          <a:custGeom>
            <a:avLst/>
            <a:gdLst/>
            <a:ahLst/>
            <a:cxnLst/>
            <a:rect r="r" b="b" t="t" l="l"/>
            <a:pathLst>
              <a:path h="3354181" w="3969694">
                <a:moveTo>
                  <a:pt x="0" y="0"/>
                </a:moveTo>
                <a:lnTo>
                  <a:pt x="3969693" y="0"/>
                </a:lnTo>
                <a:lnTo>
                  <a:pt x="3969693" y="3354181"/>
                </a:lnTo>
                <a:lnTo>
                  <a:pt x="0" y="3354181"/>
                </a:lnTo>
                <a:lnTo>
                  <a:pt x="0" y="0"/>
                </a:lnTo>
                <a:close/>
              </a:path>
            </a:pathLst>
          </a:custGeom>
          <a:blipFill>
            <a:blip r:embed="rId4"/>
            <a:stretch>
              <a:fillRect l="-23821" t="-6487" r="-3995" b="-6967"/>
            </a:stretch>
          </a:blipFill>
        </p:spPr>
      </p:sp>
      <p:sp>
        <p:nvSpPr>
          <p:cNvPr name="Freeform 63" id="63"/>
          <p:cNvSpPr/>
          <p:nvPr/>
        </p:nvSpPr>
        <p:spPr>
          <a:xfrm flipH="false" flipV="false" rot="0">
            <a:off x="8304039" y="24919793"/>
            <a:ext cx="3684050" cy="3354181"/>
          </a:xfrm>
          <a:custGeom>
            <a:avLst/>
            <a:gdLst/>
            <a:ahLst/>
            <a:cxnLst/>
            <a:rect r="r" b="b" t="t" l="l"/>
            <a:pathLst>
              <a:path h="3354181" w="3684050">
                <a:moveTo>
                  <a:pt x="0" y="0"/>
                </a:moveTo>
                <a:lnTo>
                  <a:pt x="3684050" y="0"/>
                </a:lnTo>
                <a:lnTo>
                  <a:pt x="3684050" y="3354181"/>
                </a:lnTo>
                <a:lnTo>
                  <a:pt x="0" y="3354181"/>
                </a:lnTo>
                <a:lnTo>
                  <a:pt x="0" y="0"/>
                </a:lnTo>
                <a:close/>
              </a:path>
            </a:pathLst>
          </a:custGeom>
          <a:blipFill>
            <a:blip r:embed="rId5"/>
            <a:stretch>
              <a:fillRect l="-28814" t="-6111" r="-9603" b="-7911"/>
            </a:stretch>
          </a:blipFill>
        </p:spPr>
      </p:sp>
      <p:grpSp>
        <p:nvGrpSpPr>
          <p:cNvPr name="Group 64" id="64"/>
          <p:cNvGrpSpPr/>
          <p:nvPr/>
        </p:nvGrpSpPr>
        <p:grpSpPr>
          <a:xfrm rot="0">
            <a:off x="8556719" y="11339240"/>
            <a:ext cx="6183581" cy="4359056"/>
            <a:chOff x="0" y="0"/>
            <a:chExt cx="8911171" cy="6281845"/>
          </a:xfrm>
        </p:grpSpPr>
        <p:sp>
          <p:nvSpPr>
            <p:cNvPr name="Freeform 65" id="65"/>
            <p:cNvSpPr/>
            <p:nvPr/>
          </p:nvSpPr>
          <p:spPr>
            <a:xfrm flipH="false" flipV="false" rot="0">
              <a:off x="0" y="0"/>
              <a:ext cx="8911171" cy="6281844"/>
            </a:xfrm>
            <a:custGeom>
              <a:avLst/>
              <a:gdLst/>
              <a:ahLst/>
              <a:cxnLst/>
              <a:rect r="r" b="b" t="t" l="l"/>
              <a:pathLst>
                <a:path h="6281844" w="8911171">
                  <a:moveTo>
                    <a:pt x="25441" y="0"/>
                  </a:moveTo>
                  <a:lnTo>
                    <a:pt x="8885730" y="0"/>
                  </a:lnTo>
                  <a:cubicBezTo>
                    <a:pt x="8892477" y="0"/>
                    <a:pt x="8898948" y="2680"/>
                    <a:pt x="8903719" y="7451"/>
                  </a:cubicBezTo>
                  <a:cubicBezTo>
                    <a:pt x="8908490" y="12223"/>
                    <a:pt x="8911171" y="18694"/>
                    <a:pt x="8911171" y="25441"/>
                  </a:cubicBezTo>
                  <a:lnTo>
                    <a:pt x="8911171" y="6256404"/>
                  </a:lnTo>
                  <a:cubicBezTo>
                    <a:pt x="8911171" y="6270454"/>
                    <a:pt x="8899781" y="6281844"/>
                    <a:pt x="8885730" y="6281844"/>
                  </a:cubicBezTo>
                  <a:lnTo>
                    <a:pt x="25441" y="6281844"/>
                  </a:lnTo>
                  <a:cubicBezTo>
                    <a:pt x="18694" y="6281844"/>
                    <a:pt x="12223" y="6279164"/>
                    <a:pt x="7451" y="6274393"/>
                  </a:cubicBezTo>
                  <a:cubicBezTo>
                    <a:pt x="2680" y="6269622"/>
                    <a:pt x="0" y="6263151"/>
                    <a:pt x="0" y="6256404"/>
                  </a:cubicBezTo>
                  <a:lnTo>
                    <a:pt x="0" y="25441"/>
                  </a:lnTo>
                  <a:cubicBezTo>
                    <a:pt x="0" y="11390"/>
                    <a:pt x="11390" y="0"/>
                    <a:pt x="25441" y="0"/>
                  </a:cubicBezTo>
                  <a:close/>
                </a:path>
              </a:pathLst>
            </a:custGeom>
            <a:solidFill>
              <a:srgbClr val="FFFFFF"/>
            </a:solidFill>
            <a:ln w="85725" cap="rnd">
              <a:solidFill>
                <a:srgbClr val="1A0A3D"/>
              </a:solidFill>
              <a:prstDash val="solid"/>
              <a:round/>
            </a:ln>
          </p:spPr>
        </p:sp>
        <p:sp>
          <p:nvSpPr>
            <p:cNvPr name="TextBox 66" id="66"/>
            <p:cNvSpPr txBox="true"/>
            <p:nvPr/>
          </p:nvSpPr>
          <p:spPr>
            <a:xfrm>
              <a:off x="0" y="-9525"/>
              <a:ext cx="8911171" cy="6291370"/>
            </a:xfrm>
            <a:prstGeom prst="rect">
              <a:avLst/>
            </a:prstGeom>
          </p:spPr>
          <p:txBody>
            <a:bodyPr anchor="ctr" rtlCol="false" tIns="33867" lIns="33867" bIns="33867" rIns="33867"/>
            <a:lstStyle/>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marL="0" indent="0" lvl="0">
                <a:lnSpc>
                  <a:spcPts val="1619"/>
                </a:lnSpc>
                <a:spcBef>
                  <a:spcPct val="0"/>
                </a:spcBef>
              </a:pPr>
              <a:r>
                <a:rPr lang="en-US" b="true" sz="1433">
                  <a:solidFill>
                    <a:srgbClr val="1A0A3D"/>
                  </a:solidFill>
                  <a:latin typeface="Now Bold"/>
                  <a:ea typeface="Now Bold"/>
                  <a:cs typeface="Now Bold"/>
                  <a:sym typeface="Now Bold"/>
                </a:rPr>
                <a:t>Fig.05</a:t>
              </a:r>
              <a:r>
                <a:rPr lang="en-US" b="true" sz="1433">
                  <a:solidFill>
                    <a:srgbClr val="1A0A3D"/>
                  </a:solidFill>
                  <a:latin typeface="Now Bold"/>
                  <a:ea typeface="Now Bold"/>
                  <a:cs typeface="Now Bold"/>
                  <a:sym typeface="Now Bold"/>
                </a:rPr>
                <a:t>: Server-Side Adaptive Bitrate Log Showing Dynamic Parameter Updates</a:t>
              </a:r>
            </a:p>
          </p:txBody>
        </p:sp>
      </p:grpSp>
      <p:grpSp>
        <p:nvGrpSpPr>
          <p:cNvPr name="Group 67" id="67"/>
          <p:cNvGrpSpPr/>
          <p:nvPr/>
        </p:nvGrpSpPr>
        <p:grpSpPr>
          <a:xfrm rot="0">
            <a:off x="8581750" y="16003096"/>
            <a:ext cx="12317102" cy="4483690"/>
            <a:chOff x="0" y="0"/>
            <a:chExt cx="17750199" cy="6461454"/>
          </a:xfrm>
        </p:grpSpPr>
        <p:sp>
          <p:nvSpPr>
            <p:cNvPr name="Freeform 68" id="68"/>
            <p:cNvSpPr/>
            <p:nvPr/>
          </p:nvSpPr>
          <p:spPr>
            <a:xfrm flipH="false" flipV="false" rot="0">
              <a:off x="0" y="0"/>
              <a:ext cx="17750199" cy="6461454"/>
            </a:xfrm>
            <a:custGeom>
              <a:avLst/>
              <a:gdLst/>
              <a:ahLst/>
              <a:cxnLst/>
              <a:rect r="r" b="b" t="t" l="l"/>
              <a:pathLst>
                <a:path h="6461454" w="17750199">
                  <a:moveTo>
                    <a:pt x="12772" y="0"/>
                  </a:moveTo>
                  <a:lnTo>
                    <a:pt x="17737427" y="0"/>
                  </a:lnTo>
                  <a:cubicBezTo>
                    <a:pt x="17740815" y="0"/>
                    <a:pt x="17744063" y="1346"/>
                    <a:pt x="17746458" y="3741"/>
                  </a:cubicBezTo>
                  <a:cubicBezTo>
                    <a:pt x="17748853" y="6136"/>
                    <a:pt x="17750199" y="9385"/>
                    <a:pt x="17750199" y="12772"/>
                  </a:cubicBezTo>
                  <a:lnTo>
                    <a:pt x="17750199" y="6448682"/>
                  </a:lnTo>
                  <a:cubicBezTo>
                    <a:pt x="17750199" y="6452069"/>
                    <a:pt x="17748853" y="6455318"/>
                    <a:pt x="17746458" y="6457713"/>
                  </a:cubicBezTo>
                  <a:cubicBezTo>
                    <a:pt x="17744063" y="6460108"/>
                    <a:pt x="17740815" y="6461454"/>
                    <a:pt x="17737427" y="6461454"/>
                  </a:cubicBezTo>
                  <a:lnTo>
                    <a:pt x="12772" y="6461454"/>
                  </a:lnTo>
                  <a:cubicBezTo>
                    <a:pt x="9385" y="6461454"/>
                    <a:pt x="6136" y="6460108"/>
                    <a:pt x="3741" y="6457713"/>
                  </a:cubicBezTo>
                  <a:cubicBezTo>
                    <a:pt x="1346" y="6455318"/>
                    <a:pt x="0" y="6452069"/>
                    <a:pt x="0" y="6448682"/>
                  </a:cubicBezTo>
                  <a:lnTo>
                    <a:pt x="0" y="12772"/>
                  </a:lnTo>
                  <a:cubicBezTo>
                    <a:pt x="0" y="9385"/>
                    <a:pt x="1346" y="6136"/>
                    <a:pt x="3741" y="3741"/>
                  </a:cubicBezTo>
                  <a:cubicBezTo>
                    <a:pt x="6136" y="1346"/>
                    <a:pt x="9385" y="0"/>
                    <a:pt x="12772" y="0"/>
                  </a:cubicBezTo>
                  <a:close/>
                </a:path>
              </a:pathLst>
            </a:custGeom>
            <a:solidFill>
              <a:srgbClr val="FFFFFF"/>
            </a:solidFill>
            <a:ln w="85725" cap="rnd">
              <a:solidFill>
                <a:srgbClr val="1A0A3D"/>
              </a:solidFill>
              <a:prstDash val="solid"/>
              <a:round/>
            </a:ln>
          </p:spPr>
        </p:sp>
        <p:sp>
          <p:nvSpPr>
            <p:cNvPr name="TextBox 69" id="69"/>
            <p:cNvSpPr txBox="true"/>
            <p:nvPr/>
          </p:nvSpPr>
          <p:spPr>
            <a:xfrm>
              <a:off x="0" y="-9525"/>
              <a:ext cx="17750199" cy="6470979"/>
            </a:xfrm>
            <a:prstGeom prst="rect">
              <a:avLst/>
            </a:prstGeom>
          </p:spPr>
          <p:txBody>
            <a:bodyPr anchor="ctr" rtlCol="false" tIns="33867" lIns="33867" bIns="33867" rIns="33867"/>
            <a:lstStyle/>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marL="0" indent="0" lvl="0">
                <a:lnSpc>
                  <a:spcPts val="1619"/>
                </a:lnSpc>
                <a:spcBef>
                  <a:spcPct val="0"/>
                </a:spcBef>
              </a:pPr>
              <a:r>
                <a:rPr lang="en-US" b="true" sz="1433">
                  <a:solidFill>
                    <a:srgbClr val="1A0A3D"/>
                  </a:solidFill>
                  <a:latin typeface="Now Bold"/>
                  <a:ea typeface="Now Bold"/>
                  <a:cs typeface="Now Bold"/>
                  <a:sym typeface="Now Bold"/>
                </a:rPr>
                <a:t>Fig.07</a:t>
              </a:r>
              <a:r>
                <a:rPr lang="en-US" b="true" sz="1433">
                  <a:solidFill>
                    <a:srgbClr val="1A0A3D"/>
                  </a:solidFill>
                  <a:latin typeface="Now Bold"/>
                  <a:ea typeface="Now Bold"/>
                  <a:cs typeface="Now Bold"/>
                  <a:sym typeface="Now Bold"/>
                </a:rPr>
                <a:t>: Real-Time Edge-to-Server Interaction with Motion-Aware Compression</a:t>
              </a:r>
            </a:p>
          </p:txBody>
        </p:sp>
      </p:grpSp>
      <p:grpSp>
        <p:nvGrpSpPr>
          <p:cNvPr name="Group 70" id="70"/>
          <p:cNvGrpSpPr/>
          <p:nvPr/>
        </p:nvGrpSpPr>
        <p:grpSpPr>
          <a:xfrm rot="0">
            <a:off x="14810646" y="11339240"/>
            <a:ext cx="6041495" cy="4359056"/>
            <a:chOff x="0" y="0"/>
            <a:chExt cx="8706410" cy="6281845"/>
          </a:xfrm>
        </p:grpSpPr>
        <p:sp>
          <p:nvSpPr>
            <p:cNvPr name="Freeform 71" id="71"/>
            <p:cNvSpPr/>
            <p:nvPr/>
          </p:nvSpPr>
          <p:spPr>
            <a:xfrm flipH="false" flipV="false" rot="0">
              <a:off x="0" y="0"/>
              <a:ext cx="8706410" cy="6281844"/>
            </a:xfrm>
            <a:custGeom>
              <a:avLst/>
              <a:gdLst/>
              <a:ahLst/>
              <a:cxnLst/>
              <a:rect r="r" b="b" t="t" l="l"/>
              <a:pathLst>
                <a:path h="6281844" w="8706410">
                  <a:moveTo>
                    <a:pt x="26039" y="0"/>
                  </a:moveTo>
                  <a:lnTo>
                    <a:pt x="8680371" y="0"/>
                  </a:lnTo>
                  <a:cubicBezTo>
                    <a:pt x="8694752" y="0"/>
                    <a:pt x="8706410" y="11658"/>
                    <a:pt x="8706410" y="26039"/>
                  </a:cubicBezTo>
                  <a:lnTo>
                    <a:pt x="8706410" y="6255805"/>
                  </a:lnTo>
                  <a:cubicBezTo>
                    <a:pt x="8706410" y="6270186"/>
                    <a:pt x="8694752" y="6281844"/>
                    <a:pt x="8680371" y="6281844"/>
                  </a:cubicBezTo>
                  <a:lnTo>
                    <a:pt x="26039" y="6281844"/>
                  </a:lnTo>
                  <a:cubicBezTo>
                    <a:pt x="11658" y="6281844"/>
                    <a:pt x="0" y="6270186"/>
                    <a:pt x="0" y="6255805"/>
                  </a:cubicBezTo>
                  <a:lnTo>
                    <a:pt x="0" y="26039"/>
                  </a:lnTo>
                  <a:cubicBezTo>
                    <a:pt x="0" y="11658"/>
                    <a:pt x="11658" y="0"/>
                    <a:pt x="26039" y="0"/>
                  </a:cubicBezTo>
                  <a:close/>
                </a:path>
              </a:pathLst>
            </a:custGeom>
            <a:solidFill>
              <a:srgbClr val="FFFFFF"/>
            </a:solidFill>
            <a:ln w="85725" cap="rnd">
              <a:solidFill>
                <a:srgbClr val="1A0A3D"/>
              </a:solidFill>
              <a:prstDash val="solid"/>
              <a:round/>
            </a:ln>
          </p:spPr>
        </p:sp>
        <p:sp>
          <p:nvSpPr>
            <p:cNvPr name="TextBox 72" id="72"/>
            <p:cNvSpPr txBox="true"/>
            <p:nvPr/>
          </p:nvSpPr>
          <p:spPr>
            <a:xfrm>
              <a:off x="0" y="-9525"/>
              <a:ext cx="8706410" cy="6291370"/>
            </a:xfrm>
            <a:prstGeom prst="rect">
              <a:avLst/>
            </a:prstGeom>
          </p:spPr>
          <p:txBody>
            <a:bodyPr anchor="ctr" rtlCol="false" tIns="33867" lIns="33867" bIns="33867" rIns="33867"/>
            <a:lstStyle/>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619"/>
                </a:lnSpc>
              </a:pPr>
              <a:r>
                <a:rPr lang="en-US" sz="1433" b="true">
                  <a:solidFill>
                    <a:srgbClr val="1A0A3D"/>
                  </a:solidFill>
                  <a:latin typeface="Now Bold"/>
                  <a:ea typeface="Now Bold"/>
                  <a:cs typeface="Now Bold"/>
                  <a:sym typeface="Now Bold"/>
                </a:rPr>
                <a:t>Fig.06</a:t>
              </a:r>
              <a:r>
                <a:rPr lang="en-US" sz="1433" b="true">
                  <a:solidFill>
                    <a:srgbClr val="1A0A3D"/>
                  </a:solidFill>
                  <a:latin typeface="Now Bold"/>
                  <a:ea typeface="Now Bold"/>
                  <a:cs typeface="Now Bold"/>
                  <a:sym typeface="Now Bold"/>
                </a:rPr>
                <a:t>: Bandwidth Monitoring: Instantaneous vs Trend Graph</a:t>
              </a:r>
            </a:p>
            <a:p>
              <a:pPr algn="ctr" marL="0" indent="0" lvl="0">
                <a:lnSpc>
                  <a:spcPts val="1506"/>
                </a:lnSpc>
                <a:spcBef>
                  <a:spcPct val="0"/>
                </a:spcBef>
              </a:pPr>
            </a:p>
          </p:txBody>
        </p:sp>
      </p:grpSp>
      <p:grpSp>
        <p:nvGrpSpPr>
          <p:cNvPr name="Group 73" id="73"/>
          <p:cNvGrpSpPr/>
          <p:nvPr/>
        </p:nvGrpSpPr>
        <p:grpSpPr>
          <a:xfrm rot="0">
            <a:off x="14810646" y="6559965"/>
            <a:ext cx="6063175" cy="4464950"/>
            <a:chOff x="0" y="0"/>
            <a:chExt cx="8737654" cy="6434448"/>
          </a:xfrm>
        </p:grpSpPr>
        <p:sp>
          <p:nvSpPr>
            <p:cNvPr name="Freeform 74" id="74"/>
            <p:cNvSpPr/>
            <p:nvPr/>
          </p:nvSpPr>
          <p:spPr>
            <a:xfrm flipH="false" flipV="false" rot="0">
              <a:off x="0" y="0"/>
              <a:ext cx="8737653" cy="6434448"/>
            </a:xfrm>
            <a:custGeom>
              <a:avLst/>
              <a:gdLst/>
              <a:ahLst/>
              <a:cxnLst/>
              <a:rect r="r" b="b" t="t" l="l"/>
              <a:pathLst>
                <a:path h="6434448" w="8737653">
                  <a:moveTo>
                    <a:pt x="25946" y="0"/>
                  </a:moveTo>
                  <a:lnTo>
                    <a:pt x="8711707" y="0"/>
                  </a:lnTo>
                  <a:cubicBezTo>
                    <a:pt x="8726037" y="0"/>
                    <a:pt x="8737653" y="11616"/>
                    <a:pt x="8737653" y="25946"/>
                  </a:cubicBezTo>
                  <a:lnTo>
                    <a:pt x="8737653" y="6408501"/>
                  </a:lnTo>
                  <a:cubicBezTo>
                    <a:pt x="8737653" y="6422831"/>
                    <a:pt x="8726037" y="6434448"/>
                    <a:pt x="8711707" y="6434448"/>
                  </a:cubicBezTo>
                  <a:lnTo>
                    <a:pt x="25946" y="6434448"/>
                  </a:lnTo>
                  <a:cubicBezTo>
                    <a:pt x="11616" y="6434448"/>
                    <a:pt x="0" y="6422831"/>
                    <a:pt x="0" y="6408501"/>
                  </a:cubicBezTo>
                  <a:lnTo>
                    <a:pt x="0" y="25946"/>
                  </a:lnTo>
                  <a:cubicBezTo>
                    <a:pt x="0" y="11616"/>
                    <a:pt x="11616" y="0"/>
                    <a:pt x="25946" y="0"/>
                  </a:cubicBezTo>
                  <a:close/>
                </a:path>
              </a:pathLst>
            </a:custGeom>
            <a:solidFill>
              <a:srgbClr val="FFFFFF"/>
            </a:solidFill>
            <a:ln w="85725" cap="rnd">
              <a:solidFill>
                <a:srgbClr val="1A0A3D"/>
              </a:solidFill>
              <a:prstDash val="solid"/>
              <a:round/>
            </a:ln>
          </p:spPr>
        </p:sp>
        <p:sp>
          <p:nvSpPr>
            <p:cNvPr name="TextBox 75" id="75"/>
            <p:cNvSpPr txBox="true"/>
            <p:nvPr/>
          </p:nvSpPr>
          <p:spPr>
            <a:xfrm>
              <a:off x="0" y="-9525"/>
              <a:ext cx="8737654" cy="6443973"/>
            </a:xfrm>
            <a:prstGeom prst="rect">
              <a:avLst/>
            </a:prstGeom>
          </p:spPr>
          <p:txBody>
            <a:bodyPr anchor="ctr" rtlCol="false" tIns="33867" lIns="33867" bIns="33867" rIns="33867"/>
            <a:lstStyle/>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619"/>
                </a:lnSpc>
              </a:pPr>
            </a:p>
            <a:p>
              <a:pPr algn="ctr" marL="0" indent="0" lvl="0">
                <a:lnSpc>
                  <a:spcPts val="1619"/>
                </a:lnSpc>
                <a:spcBef>
                  <a:spcPct val="0"/>
                </a:spcBef>
              </a:pPr>
              <a:r>
                <a:rPr lang="en-US" b="true" sz="1433">
                  <a:solidFill>
                    <a:srgbClr val="1A0A3D"/>
                  </a:solidFill>
                  <a:latin typeface="Now Bold"/>
                  <a:ea typeface="Now Bold"/>
                  <a:cs typeface="Now Bold"/>
                  <a:sym typeface="Now Bold"/>
                </a:rPr>
                <a:t>Fig.04: User-Controlled Compression Dashboard with Live Metrics</a:t>
              </a:r>
            </a:p>
          </p:txBody>
        </p:sp>
      </p:grpSp>
      <p:grpSp>
        <p:nvGrpSpPr>
          <p:cNvPr name="Group 76" id="76"/>
          <p:cNvGrpSpPr/>
          <p:nvPr/>
        </p:nvGrpSpPr>
        <p:grpSpPr>
          <a:xfrm rot="0">
            <a:off x="8581750" y="20696336"/>
            <a:ext cx="6158551" cy="3309691"/>
            <a:chOff x="0" y="0"/>
            <a:chExt cx="8875099" cy="4769602"/>
          </a:xfrm>
        </p:grpSpPr>
        <p:sp>
          <p:nvSpPr>
            <p:cNvPr name="Freeform 77" id="77"/>
            <p:cNvSpPr/>
            <p:nvPr/>
          </p:nvSpPr>
          <p:spPr>
            <a:xfrm flipH="false" flipV="false" rot="0">
              <a:off x="0" y="0"/>
              <a:ext cx="8875099" cy="4769602"/>
            </a:xfrm>
            <a:custGeom>
              <a:avLst/>
              <a:gdLst/>
              <a:ahLst/>
              <a:cxnLst/>
              <a:rect r="r" b="b" t="t" l="l"/>
              <a:pathLst>
                <a:path h="4769602" w="8875099">
                  <a:moveTo>
                    <a:pt x="25544" y="0"/>
                  </a:moveTo>
                  <a:lnTo>
                    <a:pt x="8849555" y="0"/>
                  </a:lnTo>
                  <a:cubicBezTo>
                    <a:pt x="8863663" y="0"/>
                    <a:pt x="8875099" y="11437"/>
                    <a:pt x="8875099" y="25544"/>
                  </a:cubicBezTo>
                  <a:lnTo>
                    <a:pt x="8875099" y="4744058"/>
                  </a:lnTo>
                  <a:cubicBezTo>
                    <a:pt x="8875099" y="4758165"/>
                    <a:pt x="8863663" y="4769602"/>
                    <a:pt x="8849555" y="4769602"/>
                  </a:cubicBezTo>
                  <a:lnTo>
                    <a:pt x="25544" y="4769602"/>
                  </a:lnTo>
                  <a:cubicBezTo>
                    <a:pt x="11437" y="4769602"/>
                    <a:pt x="0" y="4758165"/>
                    <a:pt x="0" y="4744058"/>
                  </a:cubicBezTo>
                  <a:lnTo>
                    <a:pt x="0" y="25544"/>
                  </a:lnTo>
                  <a:cubicBezTo>
                    <a:pt x="0" y="11437"/>
                    <a:pt x="11437" y="0"/>
                    <a:pt x="25544" y="0"/>
                  </a:cubicBezTo>
                  <a:close/>
                </a:path>
              </a:pathLst>
            </a:custGeom>
            <a:solidFill>
              <a:srgbClr val="FFFFFF"/>
            </a:solidFill>
            <a:ln w="85725" cap="rnd">
              <a:solidFill>
                <a:srgbClr val="1A0A3D"/>
              </a:solidFill>
              <a:prstDash val="solid"/>
              <a:round/>
            </a:ln>
          </p:spPr>
        </p:sp>
        <p:sp>
          <p:nvSpPr>
            <p:cNvPr name="TextBox 78" id="78"/>
            <p:cNvSpPr txBox="true"/>
            <p:nvPr/>
          </p:nvSpPr>
          <p:spPr>
            <a:xfrm>
              <a:off x="0" y="-9525"/>
              <a:ext cx="8875099" cy="4779127"/>
            </a:xfrm>
            <a:prstGeom prst="rect">
              <a:avLst/>
            </a:prstGeom>
          </p:spPr>
          <p:txBody>
            <a:bodyPr anchor="ctr" rtlCol="false" tIns="33867" lIns="33867" bIns="33867" rIns="33867"/>
            <a:lstStyle/>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marL="0" indent="0" lvl="0">
                <a:lnSpc>
                  <a:spcPts val="1619"/>
                </a:lnSpc>
                <a:spcBef>
                  <a:spcPct val="0"/>
                </a:spcBef>
              </a:pPr>
              <a:r>
                <a:rPr lang="en-US" b="true" sz="1433">
                  <a:solidFill>
                    <a:srgbClr val="1A0A3D"/>
                  </a:solidFill>
                  <a:latin typeface="Now Bold"/>
                  <a:ea typeface="Now Bold"/>
                  <a:cs typeface="Now Bold"/>
                  <a:sym typeface="Now Bold"/>
                </a:rPr>
                <a:t>Fig.08</a:t>
              </a:r>
              <a:r>
                <a:rPr lang="en-US" b="true" sz="1433">
                  <a:solidFill>
                    <a:srgbClr val="1A0A3D"/>
                  </a:solidFill>
                  <a:latin typeface="Now Bold"/>
                  <a:ea typeface="Now Bold"/>
                  <a:cs typeface="Now Bold"/>
                  <a:sym typeface="Now Bold"/>
                </a:rPr>
                <a:t>: Metrics Log Data with Key Performance Indicators (KPIs)</a:t>
              </a:r>
            </a:p>
          </p:txBody>
        </p:sp>
      </p:grpSp>
      <p:grpSp>
        <p:nvGrpSpPr>
          <p:cNvPr name="Group 79" id="79"/>
          <p:cNvGrpSpPr/>
          <p:nvPr/>
        </p:nvGrpSpPr>
        <p:grpSpPr>
          <a:xfrm rot="0">
            <a:off x="14832326" y="20696336"/>
            <a:ext cx="6063175" cy="3309691"/>
            <a:chOff x="0" y="0"/>
            <a:chExt cx="8737654" cy="4769602"/>
          </a:xfrm>
        </p:grpSpPr>
        <p:sp>
          <p:nvSpPr>
            <p:cNvPr name="Freeform 80" id="80"/>
            <p:cNvSpPr/>
            <p:nvPr/>
          </p:nvSpPr>
          <p:spPr>
            <a:xfrm flipH="false" flipV="false" rot="0">
              <a:off x="0" y="0"/>
              <a:ext cx="8737653" cy="4769602"/>
            </a:xfrm>
            <a:custGeom>
              <a:avLst/>
              <a:gdLst/>
              <a:ahLst/>
              <a:cxnLst/>
              <a:rect r="r" b="b" t="t" l="l"/>
              <a:pathLst>
                <a:path h="4769602" w="8737653">
                  <a:moveTo>
                    <a:pt x="25946" y="0"/>
                  </a:moveTo>
                  <a:lnTo>
                    <a:pt x="8711707" y="0"/>
                  </a:lnTo>
                  <a:cubicBezTo>
                    <a:pt x="8726037" y="0"/>
                    <a:pt x="8737653" y="11616"/>
                    <a:pt x="8737653" y="25946"/>
                  </a:cubicBezTo>
                  <a:lnTo>
                    <a:pt x="8737653" y="4743656"/>
                  </a:lnTo>
                  <a:cubicBezTo>
                    <a:pt x="8737653" y="4757986"/>
                    <a:pt x="8726037" y="4769602"/>
                    <a:pt x="8711707" y="4769602"/>
                  </a:cubicBezTo>
                  <a:lnTo>
                    <a:pt x="25946" y="4769602"/>
                  </a:lnTo>
                  <a:cubicBezTo>
                    <a:pt x="11616" y="4769602"/>
                    <a:pt x="0" y="4757986"/>
                    <a:pt x="0" y="4743656"/>
                  </a:cubicBezTo>
                  <a:lnTo>
                    <a:pt x="0" y="25946"/>
                  </a:lnTo>
                  <a:cubicBezTo>
                    <a:pt x="0" y="11616"/>
                    <a:pt x="11616" y="0"/>
                    <a:pt x="25946" y="0"/>
                  </a:cubicBezTo>
                  <a:close/>
                </a:path>
              </a:pathLst>
            </a:custGeom>
            <a:solidFill>
              <a:srgbClr val="FFFFFF"/>
            </a:solidFill>
            <a:ln w="85725" cap="rnd">
              <a:solidFill>
                <a:srgbClr val="1A0A3D"/>
              </a:solidFill>
              <a:prstDash val="solid"/>
              <a:round/>
            </a:ln>
          </p:spPr>
        </p:sp>
        <p:sp>
          <p:nvSpPr>
            <p:cNvPr name="TextBox 81" id="81"/>
            <p:cNvSpPr txBox="true"/>
            <p:nvPr/>
          </p:nvSpPr>
          <p:spPr>
            <a:xfrm>
              <a:off x="0" y="-9525"/>
              <a:ext cx="8737654" cy="4779127"/>
            </a:xfrm>
            <a:prstGeom prst="rect">
              <a:avLst/>
            </a:prstGeom>
          </p:spPr>
          <p:txBody>
            <a:bodyPr anchor="ctr" rtlCol="false" tIns="33867" lIns="33867" bIns="33867" rIns="33867"/>
            <a:lstStyle/>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a:lnSpc>
                  <a:spcPts val="1506"/>
                </a:lnSpc>
              </a:pPr>
            </a:p>
            <a:p>
              <a:pPr algn="ctr" marL="0" indent="0" lvl="0">
                <a:lnSpc>
                  <a:spcPts val="1619"/>
                </a:lnSpc>
                <a:spcBef>
                  <a:spcPct val="0"/>
                </a:spcBef>
              </a:pPr>
              <a:r>
                <a:rPr lang="en-US" b="true" sz="1433">
                  <a:solidFill>
                    <a:srgbClr val="1A0A3D"/>
                  </a:solidFill>
                  <a:latin typeface="Now Bold"/>
                  <a:ea typeface="Now Bold"/>
                  <a:cs typeface="Now Bold"/>
                  <a:sym typeface="Now Bold"/>
                </a:rPr>
                <a:t>Fig.09</a:t>
              </a:r>
              <a:r>
                <a:rPr lang="en-US" b="true" sz="1433">
                  <a:solidFill>
                    <a:srgbClr val="1A0A3D"/>
                  </a:solidFill>
                  <a:latin typeface="Now Bold"/>
                  <a:ea typeface="Now Bold"/>
                  <a:cs typeface="Now Bold"/>
                  <a:sym typeface="Now Bold"/>
                </a:rPr>
                <a:t>: Visualization of PSNR &amp; SSIM Over Time</a:t>
              </a:r>
            </a:p>
          </p:txBody>
        </p:sp>
      </p:grpSp>
      <p:sp>
        <p:nvSpPr>
          <p:cNvPr name="Freeform 82" id="82"/>
          <p:cNvSpPr/>
          <p:nvPr/>
        </p:nvSpPr>
        <p:spPr>
          <a:xfrm flipH="false" flipV="false" rot="0">
            <a:off x="8748070" y="6741425"/>
            <a:ext cx="5800880" cy="3451808"/>
          </a:xfrm>
          <a:custGeom>
            <a:avLst/>
            <a:gdLst/>
            <a:ahLst/>
            <a:cxnLst/>
            <a:rect r="r" b="b" t="t" l="l"/>
            <a:pathLst>
              <a:path h="3451808" w="5800880">
                <a:moveTo>
                  <a:pt x="0" y="0"/>
                </a:moveTo>
                <a:lnTo>
                  <a:pt x="5800880" y="0"/>
                </a:lnTo>
                <a:lnTo>
                  <a:pt x="5800880" y="3451808"/>
                </a:lnTo>
                <a:lnTo>
                  <a:pt x="0" y="3451808"/>
                </a:lnTo>
                <a:lnTo>
                  <a:pt x="0" y="0"/>
                </a:lnTo>
                <a:close/>
              </a:path>
            </a:pathLst>
          </a:custGeom>
          <a:blipFill>
            <a:blip r:embed="rId6"/>
            <a:stretch>
              <a:fillRect l="0" t="-2115" r="0" b="-6687"/>
            </a:stretch>
          </a:blipFill>
        </p:spPr>
      </p:sp>
      <p:sp>
        <p:nvSpPr>
          <p:cNvPr name="Freeform 83" id="83"/>
          <p:cNvSpPr/>
          <p:nvPr/>
        </p:nvSpPr>
        <p:spPr>
          <a:xfrm flipH="false" flipV="false" rot="0">
            <a:off x="14991720" y="6741425"/>
            <a:ext cx="5679779" cy="2880415"/>
          </a:xfrm>
          <a:custGeom>
            <a:avLst/>
            <a:gdLst/>
            <a:ahLst/>
            <a:cxnLst/>
            <a:rect r="r" b="b" t="t" l="l"/>
            <a:pathLst>
              <a:path h="2880415" w="5679779">
                <a:moveTo>
                  <a:pt x="0" y="0"/>
                </a:moveTo>
                <a:lnTo>
                  <a:pt x="5679779" y="0"/>
                </a:lnTo>
                <a:lnTo>
                  <a:pt x="5679779" y="2880415"/>
                </a:lnTo>
                <a:lnTo>
                  <a:pt x="0" y="2880415"/>
                </a:lnTo>
                <a:lnTo>
                  <a:pt x="0" y="0"/>
                </a:lnTo>
                <a:close/>
              </a:path>
            </a:pathLst>
          </a:custGeom>
          <a:blipFill>
            <a:blip r:embed="rId7"/>
            <a:stretch>
              <a:fillRect l="-5" t="-2598" r="-4664" b="-2085"/>
            </a:stretch>
          </a:blipFill>
        </p:spPr>
      </p:sp>
      <p:sp>
        <p:nvSpPr>
          <p:cNvPr name="Freeform 84" id="84"/>
          <p:cNvSpPr/>
          <p:nvPr/>
        </p:nvSpPr>
        <p:spPr>
          <a:xfrm flipH="false" flipV="false" rot="0">
            <a:off x="14991720" y="9657840"/>
            <a:ext cx="5679779" cy="689760"/>
          </a:xfrm>
          <a:custGeom>
            <a:avLst/>
            <a:gdLst/>
            <a:ahLst/>
            <a:cxnLst/>
            <a:rect r="r" b="b" t="t" l="l"/>
            <a:pathLst>
              <a:path h="689760" w="5679779">
                <a:moveTo>
                  <a:pt x="0" y="0"/>
                </a:moveTo>
                <a:lnTo>
                  <a:pt x="5679779" y="0"/>
                </a:lnTo>
                <a:lnTo>
                  <a:pt x="5679779" y="689760"/>
                </a:lnTo>
                <a:lnTo>
                  <a:pt x="0" y="689760"/>
                </a:lnTo>
                <a:lnTo>
                  <a:pt x="0" y="0"/>
                </a:lnTo>
                <a:close/>
              </a:path>
            </a:pathLst>
          </a:custGeom>
          <a:blipFill>
            <a:blip r:embed="rId8"/>
            <a:stretch>
              <a:fillRect l="-693" t="-28925" r="-2283" b="-49591"/>
            </a:stretch>
          </a:blipFill>
        </p:spPr>
      </p:sp>
      <p:sp>
        <p:nvSpPr>
          <p:cNvPr name="Freeform 85" id="85"/>
          <p:cNvSpPr/>
          <p:nvPr/>
        </p:nvSpPr>
        <p:spPr>
          <a:xfrm flipH="false" flipV="false" rot="0">
            <a:off x="8748070" y="11537592"/>
            <a:ext cx="5800880" cy="3327386"/>
          </a:xfrm>
          <a:custGeom>
            <a:avLst/>
            <a:gdLst/>
            <a:ahLst/>
            <a:cxnLst/>
            <a:rect r="r" b="b" t="t" l="l"/>
            <a:pathLst>
              <a:path h="3327386" w="5800880">
                <a:moveTo>
                  <a:pt x="0" y="0"/>
                </a:moveTo>
                <a:lnTo>
                  <a:pt x="5800880" y="0"/>
                </a:lnTo>
                <a:lnTo>
                  <a:pt x="5800880" y="3327386"/>
                </a:lnTo>
                <a:lnTo>
                  <a:pt x="0" y="3327386"/>
                </a:lnTo>
                <a:lnTo>
                  <a:pt x="0" y="0"/>
                </a:lnTo>
                <a:close/>
              </a:path>
            </a:pathLst>
          </a:custGeom>
          <a:blipFill>
            <a:blip r:embed="rId9"/>
            <a:stretch>
              <a:fillRect l="-3465" t="0" r="-3465" b="-4983"/>
            </a:stretch>
          </a:blipFill>
        </p:spPr>
      </p:sp>
      <p:sp>
        <p:nvSpPr>
          <p:cNvPr name="Freeform 86" id="86"/>
          <p:cNvSpPr/>
          <p:nvPr/>
        </p:nvSpPr>
        <p:spPr>
          <a:xfrm flipH="false" flipV="false" rot="0">
            <a:off x="14941793" y="11646088"/>
            <a:ext cx="5800880" cy="2810525"/>
          </a:xfrm>
          <a:custGeom>
            <a:avLst/>
            <a:gdLst/>
            <a:ahLst/>
            <a:cxnLst/>
            <a:rect r="r" b="b" t="t" l="l"/>
            <a:pathLst>
              <a:path h="2810525" w="5800880">
                <a:moveTo>
                  <a:pt x="0" y="0"/>
                </a:moveTo>
                <a:lnTo>
                  <a:pt x="5800880" y="0"/>
                </a:lnTo>
                <a:lnTo>
                  <a:pt x="5800880" y="2810525"/>
                </a:lnTo>
                <a:lnTo>
                  <a:pt x="0" y="2810525"/>
                </a:lnTo>
                <a:lnTo>
                  <a:pt x="0" y="0"/>
                </a:lnTo>
                <a:close/>
              </a:path>
            </a:pathLst>
          </a:custGeom>
          <a:blipFill>
            <a:blip r:embed="rId10"/>
            <a:stretch>
              <a:fillRect l="-106" t="-2400" r="-2094" b="0"/>
            </a:stretch>
          </a:blipFill>
        </p:spPr>
      </p:sp>
      <p:sp>
        <p:nvSpPr>
          <p:cNvPr name="Freeform 87" id="87"/>
          <p:cNvSpPr/>
          <p:nvPr/>
        </p:nvSpPr>
        <p:spPr>
          <a:xfrm flipH="false" flipV="false" rot="0">
            <a:off x="14991720" y="20827586"/>
            <a:ext cx="5750954" cy="2605319"/>
          </a:xfrm>
          <a:custGeom>
            <a:avLst/>
            <a:gdLst/>
            <a:ahLst/>
            <a:cxnLst/>
            <a:rect r="r" b="b" t="t" l="l"/>
            <a:pathLst>
              <a:path h="2605319" w="5750954">
                <a:moveTo>
                  <a:pt x="0" y="0"/>
                </a:moveTo>
                <a:lnTo>
                  <a:pt x="5750953" y="0"/>
                </a:lnTo>
                <a:lnTo>
                  <a:pt x="5750953" y="2605320"/>
                </a:lnTo>
                <a:lnTo>
                  <a:pt x="0" y="2605320"/>
                </a:lnTo>
                <a:lnTo>
                  <a:pt x="0" y="0"/>
                </a:lnTo>
                <a:close/>
              </a:path>
            </a:pathLst>
          </a:custGeom>
          <a:blipFill>
            <a:blip r:embed="rId11"/>
            <a:stretch>
              <a:fillRect l="0" t="-3578" r="0" b="-3578"/>
            </a:stretch>
          </a:blipFill>
        </p:spPr>
      </p:sp>
      <p:sp>
        <p:nvSpPr>
          <p:cNvPr name="Freeform 88" id="88"/>
          <p:cNvSpPr/>
          <p:nvPr/>
        </p:nvSpPr>
        <p:spPr>
          <a:xfrm flipH="false" flipV="false" rot="0">
            <a:off x="8813089" y="16207321"/>
            <a:ext cx="11858411" cy="3411263"/>
          </a:xfrm>
          <a:custGeom>
            <a:avLst/>
            <a:gdLst/>
            <a:ahLst/>
            <a:cxnLst/>
            <a:rect r="r" b="b" t="t" l="l"/>
            <a:pathLst>
              <a:path h="3411263" w="11858411">
                <a:moveTo>
                  <a:pt x="0" y="0"/>
                </a:moveTo>
                <a:lnTo>
                  <a:pt x="11858410" y="0"/>
                </a:lnTo>
                <a:lnTo>
                  <a:pt x="11858410" y="3411264"/>
                </a:lnTo>
                <a:lnTo>
                  <a:pt x="0" y="3411264"/>
                </a:lnTo>
                <a:lnTo>
                  <a:pt x="0" y="0"/>
                </a:lnTo>
                <a:close/>
              </a:path>
            </a:pathLst>
          </a:custGeom>
          <a:blipFill>
            <a:blip r:embed="rId12"/>
            <a:stretch>
              <a:fillRect l="-277" t="0" r="-277" b="0"/>
            </a:stretch>
          </a:blipFill>
        </p:spPr>
      </p:sp>
      <p:sp>
        <p:nvSpPr>
          <p:cNvPr name="Freeform 89" id="89"/>
          <p:cNvSpPr/>
          <p:nvPr/>
        </p:nvSpPr>
        <p:spPr>
          <a:xfrm flipH="false" flipV="false" rot="0">
            <a:off x="8715242" y="20861956"/>
            <a:ext cx="5796192" cy="2034530"/>
          </a:xfrm>
          <a:custGeom>
            <a:avLst/>
            <a:gdLst/>
            <a:ahLst/>
            <a:cxnLst/>
            <a:rect r="r" b="b" t="t" l="l"/>
            <a:pathLst>
              <a:path h="2034530" w="5796192">
                <a:moveTo>
                  <a:pt x="0" y="0"/>
                </a:moveTo>
                <a:lnTo>
                  <a:pt x="5796192" y="0"/>
                </a:lnTo>
                <a:lnTo>
                  <a:pt x="5796192" y="2034530"/>
                </a:lnTo>
                <a:lnTo>
                  <a:pt x="0" y="2034530"/>
                </a:lnTo>
                <a:lnTo>
                  <a:pt x="0" y="0"/>
                </a:lnTo>
                <a:close/>
              </a:path>
            </a:pathLst>
          </a:custGeom>
          <a:blipFill>
            <a:blip r:embed="rId13"/>
            <a:stretch>
              <a:fillRect l="-444" t="0" r="-444" b="0"/>
            </a:stretch>
          </a:blipFill>
        </p:spPr>
      </p:sp>
      <p:sp>
        <p:nvSpPr>
          <p:cNvPr name="TextBox 90" id="90"/>
          <p:cNvSpPr txBox="true"/>
          <p:nvPr/>
        </p:nvSpPr>
        <p:spPr>
          <a:xfrm rot="0">
            <a:off x="12559099" y="26013055"/>
            <a:ext cx="8787117" cy="4483738"/>
          </a:xfrm>
          <a:prstGeom prst="rect">
            <a:avLst/>
          </a:prstGeom>
        </p:spPr>
        <p:txBody>
          <a:bodyPr anchor="t" rtlCol="false" tIns="0" lIns="0" bIns="0" rIns="0">
            <a:spAutoFit/>
          </a:bodyPr>
          <a:lstStyle/>
          <a:p>
            <a:pPr algn="just">
              <a:lnSpc>
                <a:spcPts val="3289"/>
              </a:lnSpc>
            </a:pPr>
            <a:r>
              <a:rPr lang="en-US" sz="2349">
                <a:solidFill>
                  <a:srgbClr val="000000"/>
                </a:solidFill>
                <a:latin typeface="Now"/>
                <a:ea typeface="Now"/>
                <a:cs typeface="Now"/>
                <a:sym typeface="Now"/>
              </a:rPr>
              <a:t>This project demonstrates an efficient edge-based CCTV streaming system capable of real-time compression and adaptive control. It reduces network usage and improves performance for smart surveillance deployments. The architecture is scalable for use in IoT, smart cities, and low-resource environments.</a:t>
            </a:r>
          </a:p>
          <a:p>
            <a:pPr algn="just">
              <a:lnSpc>
                <a:spcPts val="3289"/>
              </a:lnSpc>
            </a:pPr>
          </a:p>
          <a:p>
            <a:pPr algn="just">
              <a:lnSpc>
                <a:spcPts val="3289"/>
              </a:lnSpc>
            </a:pPr>
          </a:p>
          <a:p>
            <a:pPr algn="just">
              <a:lnSpc>
                <a:spcPts val="3289"/>
              </a:lnSpc>
            </a:pPr>
          </a:p>
          <a:p>
            <a:pPr algn="just">
              <a:lnSpc>
                <a:spcPts val="3289"/>
              </a:lnSpc>
            </a:pPr>
          </a:p>
          <a:p>
            <a:pPr algn="just">
              <a:lnSpc>
                <a:spcPts val="3289"/>
              </a:lnSpc>
            </a:pPr>
          </a:p>
        </p:txBody>
      </p:sp>
      <p:grpSp>
        <p:nvGrpSpPr>
          <p:cNvPr name="Group 91" id="91"/>
          <p:cNvGrpSpPr/>
          <p:nvPr/>
        </p:nvGrpSpPr>
        <p:grpSpPr>
          <a:xfrm rot="0">
            <a:off x="12508001" y="29079369"/>
            <a:ext cx="9025812" cy="3645506"/>
            <a:chOff x="0" y="0"/>
            <a:chExt cx="13291217" cy="5368294"/>
          </a:xfrm>
        </p:grpSpPr>
        <p:sp>
          <p:nvSpPr>
            <p:cNvPr name="Freeform 92" id="92"/>
            <p:cNvSpPr/>
            <p:nvPr/>
          </p:nvSpPr>
          <p:spPr>
            <a:xfrm flipH="false" flipV="false" rot="0">
              <a:off x="0" y="0"/>
              <a:ext cx="13291217" cy="5368294"/>
            </a:xfrm>
            <a:custGeom>
              <a:avLst/>
              <a:gdLst/>
              <a:ahLst/>
              <a:cxnLst/>
              <a:rect r="r" b="b" t="t" l="l"/>
              <a:pathLst>
                <a:path h="5368294" w="13291217">
                  <a:moveTo>
                    <a:pt x="17430" y="0"/>
                  </a:moveTo>
                  <a:lnTo>
                    <a:pt x="13273787" y="0"/>
                  </a:lnTo>
                  <a:cubicBezTo>
                    <a:pt x="13283414" y="0"/>
                    <a:pt x="13291217" y="7803"/>
                    <a:pt x="13291217" y="17430"/>
                  </a:cubicBezTo>
                  <a:lnTo>
                    <a:pt x="13291217" y="5350865"/>
                  </a:lnTo>
                  <a:cubicBezTo>
                    <a:pt x="13291217" y="5355487"/>
                    <a:pt x="13289381" y="5359921"/>
                    <a:pt x="13286112" y="5363189"/>
                  </a:cubicBezTo>
                  <a:cubicBezTo>
                    <a:pt x="13282843" y="5366458"/>
                    <a:pt x="13278410" y="5368294"/>
                    <a:pt x="13273787" y="5368294"/>
                  </a:cubicBezTo>
                  <a:lnTo>
                    <a:pt x="17430" y="5368294"/>
                  </a:lnTo>
                  <a:cubicBezTo>
                    <a:pt x="12807" y="5368294"/>
                    <a:pt x="8374" y="5366458"/>
                    <a:pt x="5105" y="5363189"/>
                  </a:cubicBezTo>
                  <a:cubicBezTo>
                    <a:pt x="1836" y="5359921"/>
                    <a:pt x="0" y="5355487"/>
                    <a:pt x="0" y="5350865"/>
                  </a:cubicBezTo>
                  <a:lnTo>
                    <a:pt x="0" y="17430"/>
                  </a:lnTo>
                  <a:cubicBezTo>
                    <a:pt x="0" y="12807"/>
                    <a:pt x="1836" y="8374"/>
                    <a:pt x="5105" y="5105"/>
                  </a:cubicBezTo>
                  <a:cubicBezTo>
                    <a:pt x="8374" y="1836"/>
                    <a:pt x="12807" y="0"/>
                    <a:pt x="17430" y="0"/>
                  </a:cubicBezTo>
                  <a:close/>
                </a:path>
              </a:pathLst>
            </a:custGeom>
            <a:solidFill>
              <a:srgbClr val="FFFFFF"/>
            </a:solidFill>
            <a:ln w="85725" cap="rnd">
              <a:solidFill>
                <a:srgbClr val="1A0A3D"/>
              </a:solidFill>
              <a:prstDash val="solid"/>
              <a:round/>
            </a:ln>
          </p:spPr>
        </p:sp>
        <p:sp>
          <p:nvSpPr>
            <p:cNvPr name="TextBox 93" id="93"/>
            <p:cNvSpPr txBox="true"/>
            <p:nvPr/>
          </p:nvSpPr>
          <p:spPr>
            <a:xfrm>
              <a:off x="0" y="-9525"/>
              <a:ext cx="13291217" cy="5377819"/>
            </a:xfrm>
            <a:prstGeom prst="rect">
              <a:avLst/>
            </a:prstGeom>
          </p:spPr>
          <p:txBody>
            <a:bodyPr anchor="ctr" rtlCol="false" tIns="33867" lIns="33867" bIns="33867" rIns="33867"/>
            <a:lstStyle/>
            <a:p>
              <a:pPr algn="ctr" marL="0" indent="0" lvl="0">
                <a:lnSpc>
                  <a:spcPts val="1506"/>
                </a:lnSpc>
                <a:spcBef>
                  <a:spcPct val="0"/>
                </a:spcBef>
              </a:pPr>
            </a:p>
          </p:txBody>
        </p:sp>
      </p:grpSp>
      <p:grpSp>
        <p:nvGrpSpPr>
          <p:cNvPr name="Group 94" id="94"/>
          <p:cNvGrpSpPr/>
          <p:nvPr/>
        </p:nvGrpSpPr>
        <p:grpSpPr>
          <a:xfrm rot="0">
            <a:off x="15475658" y="28964100"/>
            <a:ext cx="2953999" cy="1057273"/>
            <a:chOff x="0" y="0"/>
            <a:chExt cx="1627324" cy="582440"/>
          </a:xfrm>
        </p:grpSpPr>
        <p:sp>
          <p:nvSpPr>
            <p:cNvPr name="Freeform 95" id="95"/>
            <p:cNvSpPr/>
            <p:nvPr/>
          </p:nvSpPr>
          <p:spPr>
            <a:xfrm flipH="false" flipV="false" rot="0">
              <a:off x="0" y="0"/>
              <a:ext cx="1627324" cy="582440"/>
            </a:xfrm>
            <a:custGeom>
              <a:avLst/>
              <a:gdLst/>
              <a:ahLst/>
              <a:cxnLst/>
              <a:rect r="r" b="b" t="t" l="l"/>
              <a:pathLst>
                <a:path h="582440" w="1627324">
                  <a:moveTo>
                    <a:pt x="53255" y="0"/>
                  </a:moveTo>
                  <a:lnTo>
                    <a:pt x="1574069" y="0"/>
                  </a:lnTo>
                  <a:cubicBezTo>
                    <a:pt x="1588193" y="0"/>
                    <a:pt x="1601739" y="5611"/>
                    <a:pt x="1611726" y="15598"/>
                  </a:cubicBezTo>
                  <a:cubicBezTo>
                    <a:pt x="1621713" y="25585"/>
                    <a:pt x="1627324" y="39131"/>
                    <a:pt x="1627324" y="53255"/>
                  </a:cubicBezTo>
                  <a:lnTo>
                    <a:pt x="1627324" y="529185"/>
                  </a:lnTo>
                  <a:cubicBezTo>
                    <a:pt x="1627324" y="558597"/>
                    <a:pt x="1603481" y="582440"/>
                    <a:pt x="1574069" y="582440"/>
                  </a:cubicBezTo>
                  <a:lnTo>
                    <a:pt x="53255" y="582440"/>
                  </a:lnTo>
                  <a:cubicBezTo>
                    <a:pt x="39131" y="582440"/>
                    <a:pt x="25585" y="576829"/>
                    <a:pt x="15598" y="566842"/>
                  </a:cubicBezTo>
                  <a:cubicBezTo>
                    <a:pt x="5611" y="556854"/>
                    <a:pt x="0" y="543309"/>
                    <a:pt x="0" y="529185"/>
                  </a:cubicBezTo>
                  <a:lnTo>
                    <a:pt x="0" y="53255"/>
                  </a:lnTo>
                  <a:cubicBezTo>
                    <a:pt x="0" y="39131"/>
                    <a:pt x="5611" y="25585"/>
                    <a:pt x="15598" y="15598"/>
                  </a:cubicBezTo>
                  <a:cubicBezTo>
                    <a:pt x="25585" y="5611"/>
                    <a:pt x="39131" y="0"/>
                    <a:pt x="53255" y="0"/>
                  </a:cubicBezTo>
                  <a:close/>
                </a:path>
              </a:pathLst>
            </a:custGeom>
            <a:solidFill>
              <a:srgbClr val="EAE5F8"/>
            </a:solidFill>
            <a:ln w="66675" cap="rnd">
              <a:solidFill>
                <a:srgbClr val="1A0A3D"/>
              </a:solidFill>
              <a:prstDash val="solid"/>
              <a:round/>
            </a:ln>
          </p:spPr>
        </p:sp>
        <p:sp>
          <p:nvSpPr>
            <p:cNvPr name="TextBox 96" id="96"/>
            <p:cNvSpPr txBox="true"/>
            <p:nvPr/>
          </p:nvSpPr>
          <p:spPr>
            <a:xfrm>
              <a:off x="0" y="9525"/>
              <a:ext cx="1627324" cy="572915"/>
            </a:xfrm>
            <a:prstGeom prst="rect">
              <a:avLst/>
            </a:prstGeom>
          </p:spPr>
          <p:txBody>
            <a:bodyPr anchor="ctr" rtlCol="false" tIns="33867" lIns="33867" bIns="33867" rIns="33867"/>
            <a:lstStyle/>
            <a:p>
              <a:pPr algn="ctr" marL="0" indent="0" lvl="0">
                <a:lnSpc>
                  <a:spcPts val="4519"/>
                </a:lnSpc>
                <a:spcBef>
                  <a:spcPct val="0"/>
                </a:spcBef>
              </a:pPr>
              <a:r>
                <a:rPr lang="en-US" b="true" sz="3999">
                  <a:solidFill>
                    <a:srgbClr val="1A0A3D"/>
                  </a:solidFill>
                  <a:latin typeface="Now Medium"/>
                  <a:ea typeface="Now Medium"/>
                  <a:cs typeface="Now Medium"/>
                  <a:sym typeface="Now Medium"/>
                </a:rPr>
                <a:t>Reference</a:t>
              </a:r>
            </a:p>
          </p:txBody>
        </p:sp>
      </p:grpSp>
      <p:sp>
        <p:nvSpPr>
          <p:cNvPr name="Freeform 97" id="97"/>
          <p:cNvSpPr/>
          <p:nvPr/>
        </p:nvSpPr>
        <p:spPr>
          <a:xfrm flipH="false" flipV="false" rot="0">
            <a:off x="1423796" y="28645449"/>
            <a:ext cx="9852212" cy="3109575"/>
          </a:xfrm>
          <a:custGeom>
            <a:avLst/>
            <a:gdLst/>
            <a:ahLst/>
            <a:cxnLst/>
            <a:rect r="r" b="b" t="t" l="l"/>
            <a:pathLst>
              <a:path h="3109575" w="9852212">
                <a:moveTo>
                  <a:pt x="0" y="0"/>
                </a:moveTo>
                <a:lnTo>
                  <a:pt x="9852213" y="0"/>
                </a:lnTo>
                <a:lnTo>
                  <a:pt x="9852213" y="3109575"/>
                </a:lnTo>
                <a:lnTo>
                  <a:pt x="0" y="3109575"/>
                </a:lnTo>
                <a:lnTo>
                  <a:pt x="0" y="0"/>
                </a:lnTo>
                <a:close/>
              </a:path>
            </a:pathLst>
          </a:custGeom>
          <a:blipFill>
            <a:blip r:embed="rId14"/>
            <a:stretch>
              <a:fillRect l="0" t="-14294" r="-329" b="-4909"/>
            </a:stretch>
          </a:blipFill>
        </p:spPr>
      </p:sp>
      <p:sp>
        <p:nvSpPr>
          <p:cNvPr name="Freeform 98" id="98"/>
          <p:cNvSpPr/>
          <p:nvPr/>
        </p:nvSpPr>
        <p:spPr>
          <a:xfrm flipH="false" flipV="false" rot="0">
            <a:off x="700132" y="13167482"/>
            <a:ext cx="7004236" cy="5486199"/>
          </a:xfrm>
          <a:custGeom>
            <a:avLst/>
            <a:gdLst/>
            <a:ahLst/>
            <a:cxnLst/>
            <a:rect r="r" b="b" t="t" l="l"/>
            <a:pathLst>
              <a:path h="5486199" w="7004236">
                <a:moveTo>
                  <a:pt x="0" y="0"/>
                </a:moveTo>
                <a:lnTo>
                  <a:pt x="7004236" y="0"/>
                </a:lnTo>
                <a:lnTo>
                  <a:pt x="7004236" y="5486199"/>
                </a:lnTo>
                <a:lnTo>
                  <a:pt x="0" y="5486199"/>
                </a:lnTo>
                <a:lnTo>
                  <a:pt x="0" y="0"/>
                </a:lnTo>
                <a:close/>
              </a:path>
            </a:pathLst>
          </a:custGeom>
          <a:blipFill>
            <a:blip r:embed="rId15"/>
            <a:stretch>
              <a:fillRect l="-873" t="0" r="-873" b="0"/>
            </a:stretch>
          </a:blipFill>
        </p:spPr>
      </p:sp>
      <p:sp>
        <p:nvSpPr>
          <p:cNvPr name="TextBox 99" id="99"/>
          <p:cNvSpPr txBox="true"/>
          <p:nvPr/>
        </p:nvSpPr>
        <p:spPr>
          <a:xfrm rot="0">
            <a:off x="628329" y="6739325"/>
            <a:ext cx="7005052" cy="4578209"/>
          </a:xfrm>
          <a:prstGeom prst="rect">
            <a:avLst/>
          </a:prstGeom>
        </p:spPr>
        <p:txBody>
          <a:bodyPr anchor="t" rtlCol="false" tIns="0" lIns="0" bIns="0" rIns="0">
            <a:spAutoFit/>
          </a:bodyPr>
          <a:lstStyle/>
          <a:p>
            <a:pPr algn="just">
              <a:lnSpc>
                <a:spcPts val="2800"/>
              </a:lnSpc>
            </a:pPr>
            <a:r>
              <a:rPr lang="en-US" sz="2000">
                <a:solidFill>
                  <a:srgbClr val="000000"/>
                </a:solidFill>
                <a:latin typeface="Now"/>
                <a:ea typeface="Now"/>
                <a:cs typeface="Now"/>
                <a:sym typeface="Now"/>
              </a:rPr>
              <a:t>An adaptive CCTV compression system that adjusts video quality and bitrate based on motion and ROI. Using OpenCV motion detection and FFmpeg encoding, it preserves important areas while reducing background data. The system includes an Edge Node (capture + ROI compression), a Server (connections + metrics), and a Dashboard (real-time bitrate/latency/FPS). A Python evaluator runs controlled tests (BG10_ROI70, BG50_ROI90) with timed logging. Results show 45–65% bandwidth reduction with stable PSNR/SSIM, providing a scalable, energy-efficient solution for smart surveillance and IoT environments.</a:t>
            </a:r>
          </a:p>
          <a:p>
            <a:pPr algn="just">
              <a:lnSpc>
                <a:spcPts val="2874"/>
              </a:lnSpc>
            </a:pPr>
          </a:p>
        </p:txBody>
      </p:sp>
      <p:sp>
        <p:nvSpPr>
          <p:cNvPr name="TextBox 100" id="100"/>
          <p:cNvSpPr txBox="true"/>
          <p:nvPr/>
        </p:nvSpPr>
        <p:spPr>
          <a:xfrm rot="0">
            <a:off x="12665375" y="30051118"/>
            <a:ext cx="8646566" cy="2795339"/>
          </a:xfrm>
          <a:prstGeom prst="rect">
            <a:avLst/>
          </a:prstGeom>
        </p:spPr>
        <p:txBody>
          <a:bodyPr anchor="t" rtlCol="false" tIns="0" lIns="0" bIns="0" rIns="0">
            <a:spAutoFit/>
          </a:bodyPr>
          <a:lstStyle/>
          <a:p>
            <a:pPr algn="just">
              <a:lnSpc>
                <a:spcPts val="1910"/>
              </a:lnSpc>
            </a:pPr>
            <a:r>
              <a:rPr lang="en-US" sz="1364">
                <a:solidFill>
                  <a:srgbClr val="000000"/>
                </a:solidFill>
                <a:latin typeface="Now"/>
                <a:ea typeface="Now"/>
                <a:cs typeface="Now"/>
                <a:sym typeface="Now"/>
              </a:rPr>
              <a:t>[1] Chengzhi Wang, Peng Yang, “</a:t>
            </a:r>
            <a:r>
              <a:rPr lang="en-US" sz="1364">
                <a:solidFill>
                  <a:srgbClr val="000000"/>
                </a:solidFill>
                <a:latin typeface="Now"/>
                <a:ea typeface="Now"/>
                <a:cs typeface="Now"/>
                <a:sym typeface="Now"/>
              </a:rPr>
              <a:t>Compression Metadata-assisted RoI Extraction and Adaptive  Inference”, </a:t>
            </a:r>
            <a:r>
              <a:rPr lang="en-US" sz="1364">
                <a:solidFill>
                  <a:srgbClr val="000000"/>
                </a:solidFill>
                <a:latin typeface="Now"/>
                <a:ea typeface="Now"/>
                <a:cs typeface="Now"/>
                <a:sym typeface="Now"/>
              </a:rPr>
              <a:t>arXiv:2503.24127v1 [cs.MM], 31 Mar 2025.</a:t>
            </a:r>
          </a:p>
          <a:p>
            <a:pPr algn="just">
              <a:lnSpc>
                <a:spcPts val="1910"/>
              </a:lnSpc>
            </a:pPr>
            <a:r>
              <a:rPr lang="en-US" sz="1364">
                <a:solidFill>
                  <a:srgbClr val="000000"/>
                </a:solidFill>
                <a:latin typeface="Now"/>
                <a:ea typeface="Now"/>
                <a:cs typeface="Now"/>
                <a:sym typeface="Now"/>
              </a:rPr>
              <a:t>[2] Guo, Yejun, “[FFmpeg-devel] [PATCH V2 1/2] add support for ROI-based encoding”, Tue Dec 25 EET 2018.</a:t>
            </a:r>
          </a:p>
          <a:p>
            <a:pPr algn="just">
              <a:lnSpc>
                <a:spcPts val="1910"/>
              </a:lnSpc>
            </a:pPr>
            <a:r>
              <a:rPr lang="en-US" sz="1364">
                <a:solidFill>
                  <a:srgbClr val="000000"/>
                </a:solidFill>
                <a:latin typeface="Now"/>
                <a:ea typeface="Now"/>
                <a:cs typeface="Now"/>
                <a:sym typeface="Now"/>
              </a:rPr>
              <a:t>[3] Jian Yang, Haixin Wang, Ittetsu Taniguchi, “aVCSR: Adaptive Video Compressive Sensing Using Region-of-Interest Detection in the Compressed Domain”, Jan.-Mar. 2024, pp. 19-32, vol. 31, DOI: </a:t>
            </a:r>
            <a:r>
              <a:rPr lang="en-US" sz="1364" u="none">
                <a:solidFill>
                  <a:srgbClr val="000000"/>
                </a:solidFill>
                <a:latin typeface="Now"/>
                <a:ea typeface="Now"/>
                <a:cs typeface="Now"/>
                <a:sym typeface="Now"/>
              </a:rPr>
              <a:t>10.1109/MMUL.2023.3342062</a:t>
            </a:r>
            <a:r>
              <a:rPr lang="en-US" sz="1364">
                <a:solidFill>
                  <a:srgbClr val="000000"/>
                </a:solidFill>
                <a:latin typeface="Now"/>
                <a:ea typeface="Now"/>
                <a:cs typeface="Now"/>
                <a:sym typeface="Now"/>
              </a:rPr>
              <a:t>.</a:t>
            </a:r>
          </a:p>
          <a:p>
            <a:pPr algn="just">
              <a:lnSpc>
                <a:spcPts val="1910"/>
              </a:lnSpc>
            </a:pPr>
            <a:r>
              <a:rPr lang="en-US" sz="1364">
                <a:solidFill>
                  <a:srgbClr val="000000"/>
                </a:solidFill>
                <a:latin typeface="Now"/>
                <a:ea typeface="Now"/>
                <a:cs typeface="Now"/>
                <a:sym typeface="Now"/>
              </a:rPr>
              <a:t>[4] I. Himawan, W. Song and D. Tjondronegoro, "Automatic region-of-interest detection and prioritisation for visually optimised coding of low bit rate videos," 2013 IEEE Workshop on Applications of Computer Vision (WACV), Clearwater Beach, FL, USA, 2013, pp. 76-82, doi: 10.1109/WACV.2013.6475002.</a:t>
            </a:r>
          </a:p>
          <a:p>
            <a:pPr algn="just">
              <a:lnSpc>
                <a:spcPts val="191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DAG6cORWfsI</dc:identifier>
  <dcterms:modified xsi:type="dcterms:W3CDTF">2011-08-01T06:04:30Z</dcterms:modified>
  <cp:revision>1</cp:revision>
  <dc:title>Where Does Light Go Activity Research Poster in Light Blue Violet Lined Style (60.96 x 91.44 cm)</dc:title>
</cp:coreProperties>
</file>